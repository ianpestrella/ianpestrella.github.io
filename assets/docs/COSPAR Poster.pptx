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62" r:id="rId2"/>
  </p:sldIdLst>
  <p:sldSz cx="42803763" cy="30275213"/>
  <p:notesSz cx="9601200" cy="7315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A9E40FB6-E02F-4981-B990-D8AC560623F6}">
          <p14:sldIdLst>
            <p14:sldId id="26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B1A43D7-72B1-9756-20C7-49FBB2AE2A5E}" name="Ian Porto" initials="IP" userId="S::iporto@yorku.ca::5dab5ef2-c6b3-4aae-9490-e7460707b4b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3A098"/>
    <a:srgbClr val="810001"/>
    <a:srgbClr val="F5E7E5"/>
    <a:srgbClr val="E1DFDC"/>
    <a:srgbClr val="E31837"/>
    <a:srgbClr val="A80F26"/>
    <a:srgbClr val="339999"/>
    <a:srgbClr val="FFCC00"/>
    <a:srgbClr val="993366"/>
    <a:srgbClr val="D6CF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67" autoAdjust="0"/>
    <p:restoredTop sz="94660"/>
  </p:normalViewPr>
  <p:slideViewPr>
    <p:cSldViewPr snapToGrid="0">
      <p:cViewPr>
        <p:scale>
          <a:sx n="25" d="100"/>
          <a:sy n="25" d="100"/>
        </p:scale>
        <p:origin x="-19" y="-8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838" cy="366713"/>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5438775" y="0"/>
            <a:ext cx="4160838" cy="366713"/>
          </a:xfrm>
          <a:prstGeom prst="rect">
            <a:avLst/>
          </a:prstGeom>
        </p:spPr>
        <p:txBody>
          <a:bodyPr vert="horz" lIns="91440" tIns="45720" rIns="91440" bIns="45720" rtlCol="0"/>
          <a:lstStyle>
            <a:lvl1pPr algn="r">
              <a:defRPr sz="1200"/>
            </a:lvl1pPr>
          </a:lstStyle>
          <a:p>
            <a:fld id="{EB100D31-50A1-41E8-822A-DAA3F1A0B594}" type="datetimeFigureOut">
              <a:rPr lang="en-CA" smtClean="0"/>
              <a:t>2026-07-11</a:t>
            </a:fld>
            <a:endParaRPr lang="en-CA"/>
          </a:p>
        </p:txBody>
      </p:sp>
      <p:sp>
        <p:nvSpPr>
          <p:cNvPr id="4" name="Slide Image Placeholder 3"/>
          <p:cNvSpPr>
            <a:spLocks noGrp="1" noRot="1" noChangeAspect="1"/>
          </p:cNvSpPr>
          <p:nvPr>
            <p:ph type="sldImg" idx="2"/>
          </p:nvPr>
        </p:nvSpPr>
        <p:spPr>
          <a:xfrm>
            <a:off x="3055938" y="914400"/>
            <a:ext cx="3489325" cy="2468563"/>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960438" y="3521075"/>
            <a:ext cx="7680325" cy="28797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6948488"/>
            <a:ext cx="4160838" cy="366712"/>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5438775" y="6948488"/>
            <a:ext cx="4160838" cy="366712"/>
          </a:xfrm>
          <a:prstGeom prst="rect">
            <a:avLst/>
          </a:prstGeom>
        </p:spPr>
        <p:txBody>
          <a:bodyPr vert="horz" lIns="91440" tIns="45720" rIns="91440" bIns="45720" rtlCol="0" anchor="b"/>
          <a:lstStyle>
            <a:lvl1pPr algn="r">
              <a:defRPr sz="1200"/>
            </a:lvl1pPr>
          </a:lstStyle>
          <a:p>
            <a:fld id="{EE1DF272-7815-4F8C-A5FA-C078AB19C42B}" type="slidenum">
              <a:rPr lang="en-CA" smtClean="0"/>
              <a:t>‹#›</a:t>
            </a:fld>
            <a:endParaRPr lang="en-CA"/>
          </a:p>
        </p:txBody>
      </p:sp>
    </p:spTree>
    <p:extLst>
      <p:ext uri="{BB962C8B-B14F-4D97-AF65-F5344CB8AC3E}">
        <p14:creationId xmlns:p14="http://schemas.microsoft.com/office/powerpoint/2010/main" val="2384171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92905-002B-2458-F63A-E2AC43E70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B5BCD-0A24-6F85-E6F3-E2A68F705BD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65ADD315-D080-D80D-BDBB-6B8B2FAD7BF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74D179F-DB09-4C65-4D90-299683A4C807}"/>
              </a:ext>
            </a:extLst>
          </p:cNvPr>
          <p:cNvSpPr>
            <a:spLocks noGrp="1"/>
          </p:cNvSpPr>
          <p:nvPr>
            <p:ph type="sldNum" sz="quarter" idx="5"/>
          </p:nvPr>
        </p:nvSpPr>
        <p:spPr/>
        <p:txBody>
          <a:bodyPr/>
          <a:lstStyle/>
          <a:p>
            <a:fld id="{EE1DF272-7815-4F8C-A5FA-C078AB19C42B}" type="slidenum">
              <a:rPr lang="en-CA" smtClean="0"/>
              <a:t>1</a:t>
            </a:fld>
            <a:endParaRPr lang="en-CA"/>
          </a:p>
        </p:txBody>
      </p:sp>
    </p:spTree>
    <p:extLst>
      <p:ext uri="{BB962C8B-B14F-4D97-AF65-F5344CB8AC3E}">
        <p14:creationId xmlns:p14="http://schemas.microsoft.com/office/powerpoint/2010/main" val="3570779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10282" y="4954765"/>
            <a:ext cx="36383199" cy="10540259"/>
          </a:xfrm>
        </p:spPr>
        <p:txBody>
          <a:bodyPr anchor="b"/>
          <a:lstStyle>
            <a:lvl1pPr algn="ctr">
              <a:defRPr sz="26488"/>
            </a:lvl1pPr>
          </a:lstStyle>
          <a:p>
            <a:r>
              <a:rPr lang="en-US"/>
              <a:t>Click to edit Master title style</a:t>
            </a:r>
            <a:endParaRPr lang="en-US" dirty="0"/>
          </a:p>
        </p:txBody>
      </p:sp>
      <p:sp>
        <p:nvSpPr>
          <p:cNvPr id="3" name="Subtitle 2"/>
          <p:cNvSpPr>
            <a:spLocks noGrp="1"/>
          </p:cNvSpPr>
          <p:nvPr>
            <p:ph type="subTitle" idx="1"/>
          </p:nvPr>
        </p:nvSpPr>
        <p:spPr>
          <a:xfrm>
            <a:off x="5350471" y="15901497"/>
            <a:ext cx="32102822" cy="7309499"/>
          </a:xfrm>
        </p:spPr>
        <p:txBody>
          <a:bodyPr/>
          <a:lstStyle>
            <a:lvl1pPr marL="0" indent="0" algn="ctr">
              <a:buNone/>
              <a:defRPr sz="10595"/>
            </a:lvl1pPr>
            <a:lvl2pPr marL="2018355" indent="0" algn="ctr">
              <a:buNone/>
              <a:defRPr sz="8829"/>
            </a:lvl2pPr>
            <a:lvl3pPr marL="4036710" indent="0" algn="ctr">
              <a:buNone/>
              <a:defRPr sz="7946"/>
            </a:lvl3pPr>
            <a:lvl4pPr marL="6055065" indent="0" algn="ctr">
              <a:buNone/>
              <a:defRPr sz="7063"/>
            </a:lvl4pPr>
            <a:lvl5pPr marL="8073420" indent="0" algn="ctr">
              <a:buNone/>
              <a:defRPr sz="7063"/>
            </a:lvl5pPr>
            <a:lvl6pPr marL="10091776" indent="0" algn="ctr">
              <a:buNone/>
              <a:defRPr sz="7063"/>
            </a:lvl6pPr>
            <a:lvl7pPr marL="12110131" indent="0" algn="ctr">
              <a:buNone/>
              <a:defRPr sz="7063"/>
            </a:lvl7pPr>
            <a:lvl8pPr marL="14128486" indent="0" algn="ctr">
              <a:buNone/>
              <a:defRPr sz="7063"/>
            </a:lvl8pPr>
            <a:lvl9pPr marL="16146841" indent="0" algn="ctr">
              <a:buNone/>
              <a:defRPr sz="706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30745F-9A59-42E1-A3D2-7E0E770EE71F}" type="datetimeFigureOut">
              <a:rPr lang="en-CA" smtClean="0"/>
              <a:t>2026-07-11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2868242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30745F-9A59-42E1-A3D2-7E0E770EE71F}" type="datetimeFigureOut">
              <a:rPr lang="en-CA" smtClean="0"/>
              <a:t>2026-07-11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1143066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20467" y="7547788"/>
            <a:ext cx="36918246" cy="12593645"/>
          </a:xfrm>
        </p:spPr>
        <p:txBody>
          <a:bodyPr anchor="b"/>
          <a:lstStyle>
            <a:lvl1pPr>
              <a:defRPr sz="26488"/>
            </a:lvl1pPr>
          </a:lstStyle>
          <a:p>
            <a:r>
              <a:rPr lang="en-US"/>
              <a:t>Click to edit Master title style</a:t>
            </a:r>
            <a:endParaRPr lang="en-US" dirty="0"/>
          </a:p>
        </p:txBody>
      </p:sp>
      <p:sp>
        <p:nvSpPr>
          <p:cNvPr id="3" name="Text Placeholder 2"/>
          <p:cNvSpPr>
            <a:spLocks noGrp="1"/>
          </p:cNvSpPr>
          <p:nvPr>
            <p:ph type="body" idx="1"/>
          </p:nvPr>
        </p:nvSpPr>
        <p:spPr>
          <a:xfrm>
            <a:off x="2920467" y="20260574"/>
            <a:ext cx="36918246" cy="6622701"/>
          </a:xfrm>
        </p:spPr>
        <p:txBody>
          <a:bodyPr/>
          <a:lstStyle>
            <a:lvl1pPr marL="0" indent="0">
              <a:buNone/>
              <a:defRPr sz="10595">
                <a:solidFill>
                  <a:schemeClr val="tx1">
                    <a:tint val="82000"/>
                  </a:schemeClr>
                </a:solidFill>
              </a:defRPr>
            </a:lvl1pPr>
            <a:lvl2pPr marL="2018355" indent="0">
              <a:buNone/>
              <a:defRPr sz="8829">
                <a:solidFill>
                  <a:schemeClr val="tx1">
                    <a:tint val="82000"/>
                  </a:schemeClr>
                </a:solidFill>
              </a:defRPr>
            </a:lvl2pPr>
            <a:lvl3pPr marL="4036710" indent="0">
              <a:buNone/>
              <a:defRPr sz="7946">
                <a:solidFill>
                  <a:schemeClr val="tx1">
                    <a:tint val="82000"/>
                  </a:schemeClr>
                </a:solidFill>
              </a:defRPr>
            </a:lvl3pPr>
            <a:lvl4pPr marL="6055065" indent="0">
              <a:buNone/>
              <a:defRPr sz="7063">
                <a:solidFill>
                  <a:schemeClr val="tx1">
                    <a:tint val="82000"/>
                  </a:schemeClr>
                </a:solidFill>
              </a:defRPr>
            </a:lvl4pPr>
            <a:lvl5pPr marL="8073420" indent="0">
              <a:buNone/>
              <a:defRPr sz="7063">
                <a:solidFill>
                  <a:schemeClr val="tx1">
                    <a:tint val="82000"/>
                  </a:schemeClr>
                </a:solidFill>
              </a:defRPr>
            </a:lvl5pPr>
            <a:lvl6pPr marL="10091776" indent="0">
              <a:buNone/>
              <a:defRPr sz="7063">
                <a:solidFill>
                  <a:schemeClr val="tx1">
                    <a:tint val="82000"/>
                  </a:schemeClr>
                </a:solidFill>
              </a:defRPr>
            </a:lvl6pPr>
            <a:lvl7pPr marL="12110131" indent="0">
              <a:buNone/>
              <a:defRPr sz="7063">
                <a:solidFill>
                  <a:schemeClr val="tx1">
                    <a:tint val="82000"/>
                  </a:schemeClr>
                </a:solidFill>
              </a:defRPr>
            </a:lvl7pPr>
            <a:lvl8pPr marL="14128486" indent="0">
              <a:buNone/>
              <a:defRPr sz="7063">
                <a:solidFill>
                  <a:schemeClr val="tx1">
                    <a:tint val="82000"/>
                  </a:schemeClr>
                </a:solidFill>
              </a:defRPr>
            </a:lvl8pPr>
            <a:lvl9pPr marL="16146841" indent="0">
              <a:buNone/>
              <a:defRPr sz="706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30745F-9A59-42E1-A3D2-7E0E770EE71F}" type="datetimeFigureOut">
              <a:rPr lang="en-CA" smtClean="0"/>
              <a:t>2026-07-11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1117229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42759" y="8059374"/>
            <a:ext cx="18191599"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669405" y="8059374"/>
            <a:ext cx="18191599"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30745F-9A59-42E1-A3D2-7E0E770EE71F}" type="datetimeFigureOut">
              <a:rPr lang="en-CA" smtClean="0"/>
              <a:t>2026-07-11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3775226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48334" y="1611882"/>
            <a:ext cx="36918246" cy="58518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48339" y="7421634"/>
            <a:ext cx="18107995"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en-US"/>
              <a:t>Click to edit Master text styles</a:t>
            </a:r>
          </a:p>
        </p:txBody>
      </p:sp>
      <p:sp>
        <p:nvSpPr>
          <p:cNvPr id="4" name="Content Placeholder 3"/>
          <p:cNvSpPr>
            <a:spLocks noGrp="1"/>
          </p:cNvSpPr>
          <p:nvPr>
            <p:ph sz="half" idx="2"/>
          </p:nvPr>
        </p:nvSpPr>
        <p:spPr>
          <a:xfrm>
            <a:off x="2948339" y="11058863"/>
            <a:ext cx="18107995"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1669408" y="7421634"/>
            <a:ext cx="18197174"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en-US"/>
              <a:t>Click to edit Master text styles</a:t>
            </a:r>
          </a:p>
        </p:txBody>
      </p:sp>
      <p:sp>
        <p:nvSpPr>
          <p:cNvPr id="6" name="Content Placeholder 5"/>
          <p:cNvSpPr>
            <a:spLocks noGrp="1"/>
          </p:cNvSpPr>
          <p:nvPr>
            <p:ph sz="quarter" idx="4"/>
          </p:nvPr>
        </p:nvSpPr>
        <p:spPr>
          <a:xfrm>
            <a:off x="21669408" y="11058863"/>
            <a:ext cx="181971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30745F-9A59-42E1-A3D2-7E0E770EE71F}" type="datetimeFigureOut">
              <a:rPr lang="en-CA" smtClean="0"/>
              <a:t>2026-07-11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889957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30745F-9A59-42E1-A3D2-7E0E770EE71F}" type="datetimeFigureOut">
              <a:rPr lang="en-CA" smtClean="0"/>
              <a:t>2026-07-11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85743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30745F-9A59-42E1-A3D2-7E0E770EE71F}" type="datetimeFigureOut">
              <a:rPr lang="en-CA" smtClean="0"/>
              <a:t>2026-07-11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1792896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en-US"/>
              <a:t>Click to edit Master title style</a:t>
            </a:r>
            <a:endParaRPr lang="en-US" dirty="0"/>
          </a:p>
        </p:txBody>
      </p:sp>
      <p:sp>
        <p:nvSpPr>
          <p:cNvPr id="3" name="Content Placeholder 2"/>
          <p:cNvSpPr>
            <a:spLocks noGrp="1"/>
          </p:cNvSpPr>
          <p:nvPr>
            <p:ph idx="1"/>
          </p:nvPr>
        </p:nvSpPr>
        <p:spPr>
          <a:xfrm>
            <a:off x="18197174" y="4359077"/>
            <a:ext cx="21669405" cy="21515024"/>
          </a:xfrm>
        </p:spPr>
        <p:txBody>
          <a:bodyPr/>
          <a:lstStyle>
            <a:lvl1pPr>
              <a:defRPr sz="14127"/>
            </a:lvl1pPr>
            <a:lvl2pPr>
              <a:defRPr sz="12361"/>
            </a:lvl2pPr>
            <a:lvl3pPr>
              <a:defRPr sz="10595"/>
            </a:lvl3pPr>
            <a:lvl4pPr>
              <a:defRPr sz="8829"/>
            </a:lvl4pPr>
            <a:lvl5pPr>
              <a:defRPr sz="8829"/>
            </a:lvl5pPr>
            <a:lvl6pPr>
              <a:defRPr sz="8829"/>
            </a:lvl6pPr>
            <a:lvl7pPr>
              <a:defRPr sz="8829"/>
            </a:lvl7pPr>
            <a:lvl8pPr>
              <a:defRPr sz="8829"/>
            </a:lvl8pPr>
            <a:lvl9pPr>
              <a:defRPr sz="882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en-US"/>
              <a:t>Click to edit Master text styles</a:t>
            </a:r>
          </a:p>
        </p:txBody>
      </p:sp>
      <p:sp>
        <p:nvSpPr>
          <p:cNvPr id="5" name="Date Placeholder 4"/>
          <p:cNvSpPr>
            <a:spLocks noGrp="1"/>
          </p:cNvSpPr>
          <p:nvPr>
            <p:ph type="dt" sz="half" idx="10"/>
          </p:nvPr>
        </p:nvSpPr>
        <p:spPr/>
        <p:txBody>
          <a:bodyPr/>
          <a:lstStyle/>
          <a:p>
            <a:fld id="{CC30745F-9A59-42E1-A3D2-7E0E770EE71F}" type="datetimeFigureOut">
              <a:rPr lang="en-CA" smtClean="0"/>
              <a:t>2026-07-11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1886624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en-US"/>
              <a:t>Click to edit Master title style</a:t>
            </a:r>
            <a:endParaRPr lang="en-US" dirty="0"/>
          </a:p>
        </p:txBody>
      </p:sp>
      <p:sp>
        <p:nvSpPr>
          <p:cNvPr id="3" name="Picture Placeholder 2"/>
          <p:cNvSpPr>
            <a:spLocks noGrp="1" noChangeAspect="1"/>
          </p:cNvSpPr>
          <p:nvPr>
            <p:ph type="pic" idx="1"/>
          </p:nvPr>
        </p:nvSpPr>
        <p:spPr>
          <a:xfrm>
            <a:off x="18197174" y="4359077"/>
            <a:ext cx="21669405" cy="21515024"/>
          </a:xfrm>
        </p:spPr>
        <p:txBody>
          <a:bodyPr anchor="t"/>
          <a:lstStyle>
            <a:lvl1pPr marL="0" indent="0">
              <a:buNone/>
              <a:defRPr sz="14127"/>
            </a:lvl1pPr>
            <a:lvl2pPr marL="2018355" indent="0">
              <a:buNone/>
              <a:defRPr sz="12361"/>
            </a:lvl2pPr>
            <a:lvl3pPr marL="4036710" indent="0">
              <a:buNone/>
              <a:defRPr sz="10595"/>
            </a:lvl3pPr>
            <a:lvl4pPr marL="6055065" indent="0">
              <a:buNone/>
              <a:defRPr sz="8829"/>
            </a:lvl4pPr>
            <a:lvl5pPr marL="8073420" indent="0">
              <a:buNone/>
              <a:defRPr sz="8829"/>
            </a:lvl5pPr>
            <a:lvl6pPr marL="10091776" indent="0">
              <a:buNone/>
              <a:defRPr sz="8829"/>
            </a:lvl6pPr>
            <a:lvl7pPr marL="12110131" indent="0">
              <a:buNone/>
              <a:defRPr sz="8829"/>
            </a:lvl7pPr>
            <a:lvl8pPr marL="14128486" indent="0">
              <a:buNone/>
              <a:defRPr sz="8829"/>
            </a:lvl8pPr>
            <a:lvl9pPr marL="16146841" indent="0">
              <a:buNone/>
              <a:defRPr sz="8829"/>
            </a:lvl9pPr>
          </a:lstStyle>
          <a:p>
            <a:r>
              <a:rPr lang="en-US"/>
              <a:t>Click icon to add picture</a:t>
            </a:r>
            <a:endParaRPr lang="en-US" dirty="0"/>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en-US"/>
              <a:t>Click to edit Master text styles</a:t>
            </a:r>
          </a:p>
        </p:txBody>
      </p:sp>
      <p:sp>
        <p:nvSpPr>
          <p:cNvPr id="5" name="Date Placeholder 4"/>
          <p:cNvSpPr>
            <a:spLocks noGrp="1"/>
          </p:cNvSpPr>
          <p:nvPr>
            <p:ph type="dt" sz="half" idx="10"/>
          </p:nvPr>
        </p:nvSpPr>
        <p:spPr/>
        <p:txBody>
          <a:bodyPr/>
          <a:lstStyle/>
          <a:p>
            <a:fld id="{CC30745F-9A59-42E1-A3D2-7E0E770EE71F}" type="datetimeFigureOut">
              <a:rPr lang="en-CA" smtClean="0"/>
              <a:t>2026-07-11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2086030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30745F-9A59-42E1-A3D2-7E0E770EE71F}" type="datetimeFigureOut">
              <a:rPr lang="en-CA" smtClean="0"/>
              <a:t>2026-07-11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3752243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631445" y="1611875"/>
            <a:ext cx="9229561" cy="256568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42761" y="1611875"/>
            <a:ext cx="271536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30745F-9A59-42E1-A3D2-7E0E770EE71F}" type="datetimeFigureOut">
              <a:rPr lang="en-CA" smtClean="0"/>
              <a:t>2026-07-11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111D4A7-224E-4B92-864E-388357D98D2A}" type="slidenum">
              <a:rPr lang="en-CA" smtClean="0"/>
              <a:t>‹#›</a:t>
            </a:fld>
            <a:endParaRPr lang="en-CA"/>
          </a:p>
        </p:txBody>
      </p:sp>
    </p:spTree>
    <p:extLst>
      <p:ext uri="{BB962C8B-B14F-4D97-AF65-F5344CB8AC3E}">
        <p14:creationId xmlns:p14="http://schemas.microsoft.com/office/powerpoint/2010/main" val="1306807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42759" y="1611882"/>
            <a:ext cx="36918246" cy="58518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942759" y="8059374"/>
            <a:ext cx="36918246"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42759" y="28060644"/>
            <a:ext cx="9630847" cy="1611875"/>
          </a:xfrm>
          <a:prstGeom prst="rect">
            <a:avLst/>
          </a:prstGeom>
        </p:spPr>
        <p:txBody>
          <a:bodyPr vert="horz" lIns="91440" tIns="45720" rIns="91440" bIns="45720" rtlCol="0" anchor="ctr"/>
          <a:lstStyle>
            <a:lvl1pPr algn="l">
              <a:defRPr sz="5298">
                <a:solidFill>
                  <a:schemeClr val="tx1">
                    <a:tint val="82000"/>
                  </a:schemeClr>
                </a:solidFill>
              </a:defRPr>
            </a:lvl1pPr>
          </a:lstStyle>
          <a:p>
            <a:fld id="{CC30745F-9A59-42E1-A3D2-7E0E770EE71F}" type="datetimeFigureOut">
              <a:rPr lang="en-CA" smtClean="0"/>
              <a:t>2026-07-11</a:t>
            </a:fld>
            <a:endParaRPr lang="en-CA"/>
          </a:p>
        </p:txBody>
      </p:sp>
      <p:sp>
        <p:nvSpPr>
          <p:cNvPr id="5" name="Footer Placeholder 4"/>
          <p:cNvSpPr>
            <a:spLocks noGrp="1"/>
          </p:cNvSpPr>
          <p:nvPr>
            <p:ph type="ftr" sz="quarter" idx="3"/>
          </p:nvPr>
        </p:nvSpPr>
        <p:spPr>
          <a:xfrm>
            <a:off x="14178747" y="28060644"/>
            <a:ext cx="14446270" cy="1611875"/>
          </a:xfrm>
          <a:prstGeom prst="rect">
            <a:avLst/>
          </a:prstGeom>
        </p:spPr>
        <p:txBody>
          <a:bodyPr vert="horz" lIns="91440" tIns="45720" rIns="91440" bIns="45720" rtlCol="0" anchor="ctr"/>
          <a:lstStyle>
            <a:lvl1pPr algn="ctr">
              <a:defRPr sz="5298">
                <a:solidFill>
                  <a:schemeClr val="tx1">
                    <a:tint val="82000"/>
                  </a:schemeClr>
                </a:solidFill>
              </a:defRPr>
            </a:lvl1pPr>
          </a:lstStyle>
          <a:p>
            <a:endParaRPr lang="en-CA"/>
          </a:p>
        </p:txBody>
      </p:sp>
      <p:sp>
        <p:nvSpPr>
          <p:cNvPr id="6" name="Slide Number Placeholder 5"/>
          <p:cNvSpPr>
            <a:spLocks noGrp="1"/>
          </p:cNvSpPr>
          <p:nvPr>
            <p:ph type="sldNum" sz="quarter" idx="4"/>
          </p:nvPr>
        </p:nvSpPr>
        <p:spPr>
          <a:xfrm>
            <a:off x="30230157" y="28060644"/>
            <a:ext cx="9630847" cy="1611875"/>
          </a:xfrm>
          <a:prstGeom prst="rect">
            <a:avLst/>
          </a:prstGeom>
        </p:spPr>
        <p:txBody>
          <a:bodyPr vert="horz" lIns="91440" tIns="45720" rIns="91440" bIns="45720" rtlCol="0" anchor="ctr"/>
          <a:lstStyle>
            <a:lvl1pPr algn="r">
              <a:defRPr sz="5298">
                <a:solidFill>
                  <a:schemeClr val="tx1">
                    <a:tint val="82000"/>
                  </a:schemeClr>
                </a:solidFill>
              </a:defRPr>
            </a:lvl1pPr>
          </a:lstStyle>
          <a:p>
            <a:fld id="{2111D4A7-224E-4B92-864E-388357D98D2A}" type="slidenum">
              <a:rPr lang="en-CA" smtClean="0"/>
              <a:t>‹#›</a:t>
            </a:fld>
            <a:endParaRPr lang="en-CA"/>
          </a:p>
        </p:txBody>
      </p:sp>
    </p:spTree>
    <p:extLst>
      <p:ext uri="{BB962C8B-B14F-4D97-AF65-F5344CB8AC3E}">
        <p14:creationId xmlns:p14="http://schemas.microsoft.com/office/powerpoint/2010/main" val="42673038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036710" rtl="0" eaLnBrk="1" latinLnBrk="0" hangingPunct="1">
        <a:lnSpc>
          <a:spcPct val="90000"/>
        </a:lnSpc>
        <a:spcBef>
          <a:spcPct val="0"/>
        </a:spcBef>
        <a:buNone/>
        <a:defRPr sz="19424" kern="1200">
          <a:solidFill>
            <a:schemeClr val="tx1"/>
          </a:solidFill>
          <a:latin typeface="+mj-lt"/>
          <a:ea typeface="+mj-ea"/>
          <a:cs typeface="+mj-cs"/>
        </a:defRPr>
      </a:lvl1pPr>
    </p:titleStyle>
    <p:bodyStyle>
      <a:lvl1pPr marL="1009178" indent="-1009178" algn="l" defTabSz="4036710" rtl="0" eaLnBrk="1" latinLnBrk="0" hangingPunct="1">
        <a:lnSpc>
          <a:spcPct val="90000"/>
        </a:lnSpc>
        <a:spcBef>
          <a:spcPts val="4415"/>
        </a:spcBef>
        <a:buFont typeface="Arial" panose="020B0604020202020204" pitchFamily="34" charset="0"/>
        <a:buChar char="•"/>
        <a:defRPr sz="12361" kern="1200">
          <a:solidFill>
            <a:schemeClr val="tx1"/>
          </a:solidFill>
          <a:latin typeface="+mn-lt"/>
          <a:ea typeface="+mn-ea"/>
          <a:cs typeface="+mn-cs"/>
        </a:defRPr>
      </a:lvl1pPr>
      <a:lvl2pPr marL="3027533" indent="-1009178" algn="l" defTabSz="4036710" rtl="0" eaLnBrk="1" latinLnBrk="0" hangingPunct="1">
        <a:lnSpc>
          <a:spcPct val="90000"/>
        </a:lnSpc>
        <a:spcBef>
          <a:spcPts val="2207"/>
        </a:spcBef>
        <a:buFont typeface="Arial" panose="020B0604020202020204" pitchFamily="34" charset="0"/>
        <a:buChar char="•"/>
        <a:defRPr sz="10595" kern="1200">
          <a:solidFill>
            <a:schemeClr val="tx1"/>
          </a:solidFill>
          <a:latin typeface="+mn-lt"/>
          <a:ea typeface="+mn-ea"/>
          <a:cs typeface="+mn-cs"/>
        </a:defRPr>
      </a:lvl2pPr>
      <a:lvl3pPr marL="5045888" indent="-1009178" algn="l" defTabSz="4036710" rtl="0" eaLnBrk="1" latinLnBrk="0" hangingPunct="1">
        <a:lnSpc>
          <a:spcPct val="90000"/>
        </a:lnSpc>
        <a:spcBef>
          <a:spcPts val="2207"/>
        </a:spcBef>
        <a:buFont typeface="Arial" panose="020B0604020202020204" pitchFamily="34" charset="0"/>
        <a:buChar char="•"/>
        <a:defRPr sz="8829" kern="1200">
          <a:solidFill>
            <a:schemeClr val="tx1"/>
          </a:solidFill>
          <a:latin typeface="+mn-lt"/>
          <a:ea typeface="+mn-ea"/>
          <a:cs typeface="+mn-cs"/>
        </a:defRPr>
      </a:lvl3pPr>
      <a:lvl4pPr marL="706424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4pPr>
      <a:lvl5pPr marL="908259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5pPr>
      <a:lvl6pPr marL="1110095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6pPr>
      <a:lvl7pPr marL="1311930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7pPr>
      <a:lvl8pPr marL="1513766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8pPr>
      <a:lvl9pPr marL="17156019"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9pPr>
    </p:bodyStyle>
    <p:otherStyle>
      <a:defPPr>
        <a:defRPr lang="en-US"/>
      </a:defPPr>
      <a:lvl1pPr marL="0" algn="l" defTabSz="4036710" rtl="0" eaLnBrk="1" latinLnBrk="0" hangingPunct="1">
        <a:defRPr sz="7946" kern="1200">
          <a:solidFill>
            <a:schemeClr val="tx1"/>
          </a:solidFill>
          <a:latin typeface="+mn-lt"/>
          <a:ea typeface="+mn-ea"/>
          <a:cs typeface="+mn-cs"/>
        </a:defRPr>
      </a:lvl1pPr>
      <a:lvl2pPr marL="2018355" algn="l" defTabSz="4036710" rtl="0" eaLnBrk="1" latinLnBrk="0" hangingPunct="1">
        <a:defRPr sz="7946" kern="1200">
          <a:solidFill>
            <a:schemeClr val="tx1"/>
          </a:solidFill>
          <a:latin typeface="+mn-lt"/>
          <a:ea typeface="+mn-ea"/>
          <a:cs typeface="+mn-cs"/>
        </a:defRPr>
      </a:lvl2pPr>
      <a:lvl3pPr marL="4036710" algn="l" defTabSz="4036710" rtl="0" eaLnBrk="1" latinLnBrk="0" hangingPunct="1">
        <a:defRPr sz="7946" kern="1200">
          <a:solidFill>
            <a:schemeClr val="tx1"/>
          </a:solidFill>
          <a:latin typeface="+mn-lt"/>
          <a:ea typeface="+mn-ea"/>
          <a:cs typeface="+mn-cs"/>
        </a:defRPr>
      </a:lvl3pPr>
      <a:lvl4pPr marL="6055065" algn="l" defTabSz="4036710" rtl="0" eaLnBrk="1" latinLnBrk="0" hangingPunct="1">
        <a:defRPr sz="7946" kern="1200">
          <a:solidFill>
            <a:schemeClr val="tx1"/>
          </a:solidFill>
          <a:latin typeface="+mn-lt"/>
          <a:ea typeface="+mn-ea"/>
          <a:cs typeface="+mn-cs"/>
        </a:defRPr>
      </a:lvl4pPr>
      <a:lvl5pPr marL="8073420" algn="l" defTabSz="4036710" rtl="0" eaLnBrk="1" latinLnBrk="0" hangingPunct="1">
        <a:defRPr sz="7946" kern="1200">
          <a:solidFill>
            <a:schemeClr val="tx1"/>
          </a:solidFill>
          <a:latin typeface="+mn-lt"/>
          <a:ea typeface="+mn-ea"/>
          <a:cs typeface="+mn-cs"/>
        </a:defRPr>
      </a:lvl5pPr>
      <a:lvl6pPr marL="10091776" algn="l" defTabSz="4036710" rtl="0" eaLnBrk="1" latinLnBrk="0" hangingPunct="1">
        <a:defRPr sz="7946" kern="1200">
          <a:solidFill>
            <a:schemeClr val="tx1"/>
          </a:solidFill>
          <a:latin typeface="+mn-lt"/>
          <a:ea typeface="+mn-ea"/>
          <a:cs typeface="+mn-cs"/>
        </a:defRPr>
      </a:lvl6pPr>
      <a:lvl7pPr marL="12110131" algn="l" defTabSz="4036710" rtl="0" eaLnBrk="1" latinLnBrk="0" hangingPunct="1">
        <a:defRPr sz="7946" kern="1200">
          <a:solidFill>
            <a:schemeClr val="tx1"/>
          </a:solidFill>
          <a:latin typeface="+mn-lt"/>
          <a:ea typeface="+mn-ea"/>
          <a:cs typeface="+mn-cs"/>
        </a:defRPr>
      </a:lvl7pPr>
      <a:lvl8pPr marL="14128486" algn="l" defTabSz="4036710" rtl="0" eaLnBrk="1" latinLnBrk="0" hangingPunct="1">
        <a:defRPr sz="7946" kern="1200">
          <a:solidFill>
            <a:schemeClr val="tx1"/>
          </a:solidFill>
          <a:latin typeface="+mn-lt"/>
          <a:ea typeface="+mn-ea"/>
          <a:cs typeface="+mn-cs"/>
        </a:defRPr>
      </a:lvl8pPr>
      <a:lvl9pPr marL="16146841" algn="l" defTabSz="4036710" rtl="0" eaLnBrk="1" latinLnBrk="0" hangingPunct="1">
        <a:defRPr sz="79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sv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6BD4-D4A9-E537-4440-7E1C73A985C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574B4EA-F134-A715-0DF3-026D70C7F66A}"/>
              </a:ext>
            </a:extLst>
          </p:cNvPr>
          <p:cNvSpPr>
            <a:spLocks noGrp="1" noRot="1" noMove="1" noResize="1" noEditPoints="1" noAdjustHandles="1" noChangeArrowheads="1" noChangeShapeType="1"/>
          </p:cNvSpPr>
          <p:nvPr/>
        </p:nvSpPr>
        <p:spPr>
          <a:xfrm>
            <a:off x="0" y="28439999"/>
            <a:ext cx="42642235" cy="18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8" name="Rectangle: Rounded Corners 27">
            <a:extLst>
              <a:ext uri="{FF2B5EF4-FFF2-40B4-BE49-F238E27FC236}">
                <a16:creationId xmlns:a16="http://schemas.microsoft.com/office/drawing/2014/main" id="{3D367FFD-F3FD-5AF9-B5FA-55055842BFCA}"/>
              </a:ext>
            </a:extLst>
          </p:cNvPr>
          <p:cNvSpPr>
            <a:spLocks/>
          </p:cNvSpPr>
          <p:nvPr/>
        </p:nvSpPr>
        <p:spPr>
          <a:xfrm>
            <a:off x="180000" y="15855068"/>
            <a:ext cx="13680000" cy="12566746"/>
          </a:xfrm>
          <a:prstGeom prst="roundRect">
            <a:avLst>
              <a:gd name="adj" fmla="val 1980"/>
            </a:avLst>
          </a:prstGeom>
          <a:solidFill>
            <a:srgbClr val="E1DFDC"/>
          </a:solidFill>
          <a:effectLst>
            <a:outerShdw blurRad="50800" dist="38100" dir="8100000" algn="tr"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685800" indent="-685800">
              <a:buFont typeface="Arial" panose="020B0604020202020204" pitchFamily="34" charset="0"/>
              <a:buChar char="•"/>
            </a:pPr>
            <a:endParaRPr lang="en-CA" sz="5400" dirty="0">
              <a:solidFill>
                <a:schemeClr val="tx1"/>
              </a:solidFill>
            </a:endParaRPr>
          </a:p>
        </p:txBody>
      </p:sp>
      <p:sp>
        <p:nvSpPr>
          <p:cNvPr id="29" name="Rectangle: Rounded Corners 28">
            <a:extLst>
              <a:ext uri="{FF2B5EF4-FFF2-40B4-BE49-F238E27FC236}">
                <a16:creationId xmlns:a16="http://schemas.microsoft.com/office/drawing/2014/main" id="{7AB82C24-46DF-386E-C416-0AF7DFB2A9D4}"/>
              </a:ext>
            </a:extLst>
          </p:cNvPr>
          <p:cNvSpPr>
            <a:spLocks/>
          </p:cNvSpPr>
          <p:nvPr/>
        </p:nvSpPr>
        <p:spPr>
          <a:xfrm>
            <a:off x="14040000" y="2340000"/>
            <a:ext cx="14724000" cy="9871291"/>
          </a:xfrm>
          <a:prstGeom prst="roundRect">
            <a:avLst>
              <a:gd name="adj" fmla="val 2004"/>
            </a:avLst>
          </a:prstGeom>
          <a:solidFill>
            <a:srgbClr val="E1DFDC"/>
          </a:solidFill>
          <a:effectLst>
            <a:outerShdw blurRad="50800" dist="38100" dir="8100000" algn="tr"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685800" indent="-685800">
              <a:buFontTx/>
              <a:buChar char="-"/>
            </a:pPr>
            <a:endParaRPr lang="en-CA" sz="5400" dirty="0">
              <a:solidFill>
                <a:schemeClr val="tx1"/>
              </a:solidFill>
            </a:endParaRPr>
          </a:p>
        </p:txBody>
      </p:sp>
      <p:sp>
        <p:nvSpPr>
          <p:cNvPr id="30" name="Rectangle: Rounded Corners 29">
            <a:extLst>
              <a:ext uri="{FF2B5EF4-FFF2-40B4-BE49-F238E27FC236}">
                <a16:creationId xmlns:a16="http://schemas.microsoft.com/office/drawing/2014/main" id="{9DA68EEC-E058-B260-3FA2-84065CADD235}"/>
              </a:ext>
            </a:extLst>
          </p:cNvPr>
          <p:cNvSpPr>
            <a:spLocks/>
          </p:cNvSpPr>
          <p:nvPr/>
        </p:nvSpPr>
        <p:spPr>
          <a:xfrm>
            <a:off x="180000" y="2339999"/>
            <a:ext cx="13680000" cy="13400188"/>
          </a:xfrm>
          <a:prstGeom prst="roundRect">
            <a:avLst>
              <a:gd name="adj" fmla="val 3334"/>
            </a:avLst>
          </a:prstGeom>
          <a:solidFill>
            <a:srgbClr val="E1DFDC"/>
          </a:solidFill>
          <a:effectLst>
            <a:outerShdw blurRad="50800" dist="38100" dir="8100000" algn="tr"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CA" sz="4400" dirty="0">
              <a:solidFill>
                <a:schemeClr val="tx1"/>
              </a:solidFill>
            </a:endParaRPr>
          </a:p>
        </p:txBody>
      </p:sp>
      <p:sp>
        <p:nvSpPr>
          <p:cNvPr id="31" name="Rectangle: Rounded Corners 30">
            <a:extLst>
              <a:ext uri="{FF2B5EF4-FFF2-40B4-BE49-F238E27FC236}">
                <a16:creationId xmlns:a16="http://schemas.microsoft.com/office/drawing/2014/main" id="{95784795-985C-945B-5CDC-AF317DF18625}"/>
              </a:ext>
            </a:extLst>
          </p:cNvPr>
          <p:cNvSpPr>
            <a:spLocks/>
          </p:cNvSpPr>
          <p:nvPr/>
        </p:nvSpPr>
        <p:spPr>
          <a:xfrm>
            <a:off x="28943763" y="2340000"/>
            <a:ext cx="13680000" cy="14400000"/>
          </a:xfrm>
          <a:prstGeom prst="roundRect">
            <a:avLst>
              <a:gd name="adj" fmla="val 1923"/>
            </a:avLst>
          </a:prstGeom>
          <a:solidFill>
            <a:srgbClr val="E1DFDC"/>
          </a:solidFill>
          <a:effectLst>
            <a:outerShdw blurRad="50800" dist="38100" dir="8100000" algn="tr"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685800" indent="-685800">
              <a:buFontTx/>
              <a:buChar char="-"/>
            </a:pPr>
            <a:endParaRPr lang="en-CA" sz="5400" dirty="0">
              <a:solidFill>
                <a:schemeClr val="tx1"/>
              </a:solidFill>
            </a:endParaRPr>
          </a:p>
        </p:txBody>
      </p:sp>
      <p:sp>
        <p:nvSpPr>
          <p:cNvPr id="32" name="Rectangle: Rounded Corners 31">
            <a:extLst>
              <a:ext uri="{FF2B5EF4-FFF2-40B4-BE49-F238E27FC236}">
                <a16:creationId xmlns:a16="http://schemas.microsoft.com/office/drawing/2014/main" id="{5DB0510B-1B18-44EB-85EF-976EA325A35F}"/>
              </a:ext>
            </a:extLst>
          </p:cNvPr>
          <p:cNvSpPr>
            <a:spLocks/>
          </p:cNvSpPr>
          <p:nvPr/>
        </p:nvSpPr>
        <p:spPr>
          <a:xfrm>
            <a:off x="28943764" y="16920000"/>
            <a:ext cx="13680000" cy="11520000"/>
          </a:xfrm>
          <a:prstGeom prst="roundRect">
            <a:avLst>
              <a:gd name="adj" fmla="val 3334"/>
            </a:avLst>
          </a:prstGeom>
          <a:solidFill>
            <a:srgbClr val="E1DFDC"/>
          </a:solidFill>
          <a:effectLst>
            <a:outerShdw blurRad="50800" dist="38100" dir="8100000" algn="tr"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CA" sz="5400" dirty="0">
              <a:solidFill>
                <a:schemeClr val="tx1"/>
              </a:solidFill>
            </a:endParaRPr>
          </a:p>
        </p:txBody>
      </p:sp>
      <p:sp>
        <p:nvSpPr>
          <p:cNvPr id="33" name="Rectangle: Top Corners Rounded 32">
            <a:extLst>
              <a:ext uri="{FF2B5EF4-FFF2-40B4-BE49-F238E27FC236}">
                <a16:creationId xmlns:a16="http://schemas.microsoft.com/office/drawing/2014/main" id="{09BC9ECF-7ACA-6640-87DE-45D340BC9CDB}"/>
              </a:ext>
            </a:extLst>
          </p:cNvPr>
          <p:cNvSpPr>
            <a:spLocks/>
          </p:cNvSpPr>
          <p:nvPr/>
        </p:nvSpPr>
        <p:spPr>
          <a:xfrm>
            <a:off x="180000" y="2340000"/>
            <a:ext cx="13680000" cy="1080000"/>
          </a:xfrm>
          <a:prstGeom prst="round2SameRect">
            <a:avLst>
              <a:gd name="adj1" fmla="val 26862"/>
              <a:gd name="adj2" fmla="val 0"/>
            </a:avLst>
          </a:prstGeom>
          <a:solidFill>
            <a:srgbClr val="81000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4800" dirty="0"/>
              <a:t>1. INTRODUCTION AND MOTIVATION</a:t>
            </a:r>
          </a:p>
        </p:txBody>
      </p:sp>
      <p:sp>
        <p:nvSpPr>
          <p:cNvPr id="34" name="Rectangle: Top Corners Rounded 33">
            <a:extLst>
              <a:ext uri="{FF2B5EF4-FFF2-40B4-BE49-F238E27FC236}">
                <a16:creationId xmlns:a16="http://schemas.microsoft.com/office/drawing/2014/main" id="{5E46FB2E-ED1C-AA01-9284-F25289902826}"/>
              </a:ext>
            </a:extLst>
          </p:cNvPr>
          <p:cNvSpPr>
            <a:spLocks/>
          </p:cNvSpPr>
          <p:nvPr/>
        </p:nvSpPr>
        <p:spPr>
          <a:xfrm>
            <a:off x="180000" y="15835065"/>
            <a:ext cx="13671285" cy="1080000"/>
          </a:xfrm>
          <a:prstGeom prst="round2SameRect">
            <a:avLst>
              <a:gd name="adj1" fmla="val 24745"/>
              <a:gd name="adj2" fmla="val 0"/>
            </a:avLst>
          </a:prstGeom>
          <a:solidFill>
            <a:srgbClr val="81000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4800" dirty="0"/>
              <a:t>2. SIMULATED DATA</a:t>
            </a:r>
          </a:p>
        </p:txBody>
      </p:sp>
      <p:sp>
        <p:nvSpPr>
          <p:cNvPr id="35" name="Rectangle: Top Corners Rounded 34">
            <a:extLst>
              <a:ext uri="{FF2B5EF4-FFF2-40B4-BE49-F238E27FC236}">
                <a16:creationId xmlns:a16="http://schemas.microsoft.com/office/drawing/2014/main" id="{702A3B8B-EEFB-F179-CB28-E5488FE426E0}"/>
              </a:ext>
            </a:extLst>
          </p:cNvPr>
          <p:cNvSpPr>
            <a:spLocks/>
          </p:cNvSpPr>
          <p:nvPr/>
        </p:nvSpPr>
        <p:spPr>
          <a:xfrm>
            <a:off x="14040000" y="2340000"/>
            <a:ext cx="14724000" cy="1080000"/>
          </a:xfrm>
          <a:prstGeom prst="round2SameRect">
            <a:avLst>
              <a:gd name="adj1" fmla="val 27215"/>
              <a:gd name="adj2" fmla="val 0"/>
            </a:avLst>
          </a:prstGeom>
          <a:solidFill>
            <a:srgbClr val="81000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4800" dirty="0"/>
              <a:t>3. HARDWARE-IN-THE-LOOP</a:t>
            </a:r>
          </a:p>
        </p:txBody>
      </p:sp>
      <p:sp>
        <p:nvSpPr>
          <p:cNvPr id="37" name="Rectangle: Top Corners Rounded 36">
            <a:extLst>
              <a:ext uri="{FF2B5EF4-FFF2-40B4-BE49-F238E27FC236}">
                <a16:creationId xmlns:a16="http://schemas.microsoft.com/office/drawing/2014/main" id="{3772E96B-AF26-8A33-4D1A-432D7E4C1527}"/>
              </a:ext>
            </a:extLst>
          </p:cNvPr>
          <p:cNvSpPr>
            <a:spLocks/>
          </p:cNvSpPr>
          <p:nvPr/>
        </p:nvSpPr>
        <p:spPr>
          <a:xfrm>
            <a:off x="28944000" y="2340000"/>
            <a:ext cx="13680000" cy="1080000"/>
          </a:xfrm>
          <a:prstGeom prst="round2SameRect">
            <a:avLst>
              <a:gd name="adj1" fmla="val 22628"/>
              <a:gd name="adj2" fmla="val 0"/>
            </a:avLst>
          </a:prstGeom>
          <a:solidFill>
            <a:srgbClr val="81000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4800" dirty="0"/>
              <a:t>5. KEY RESULTS</a:t>
            </a:r>
          </a:p>
        </p:txBody>
      </p:sp>
      <p:sp>
        <p:nvSpPr>
          <p:cNvPr id="38" name="Rectangle: Top Corners Rounded 37">
            <a:extLst>
              <a:ext uri="{FF2B5EF4-FFF2-40B4-BE49-F238E27FC236}">
                <a16:creationId xmlns:a16="http://schemas.microsoft.com/office/drawing/2014/main" id="{41FF4395-B877-45AC-F4F9-03F518114541}"/>
              </a:ext>
            </a:extLst>
          </p:cNvPr>
          <p:cNvSpPr>
            <a:spLocks/>
          </p:cNvSpPr>
          <p:nvPr/>
        </p:nvSpPr>
        <p:spPr>
          <a:xfrm>
            <a:off x="28943764" y="16920000"/>
            <a:ext cx="13680000" cy="1080000"/>
          </a:xfrm>
          <a:prstGeom prst="round2SameRect">
            <a:avLst>
              <a:gd name="adj1" fmla="val 36916"/>
              <a:gd name="adj2" fmla="val 0"/>
            </a:avLst>
          </a:prstGeom>
          <a:solidFill>
            <a:srgbClr val="81000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4800" dirty="0"/>
              <a:t>6. CONCLUSION</a:t>
            </a:r>
          </a:p>
        </p:txBody>
      </p:sp>
      <p:pic>
        <p:nvPicPr>
          <p:cNvPr id="40" name="Graphic 39">
            <a:extLst>
              <a:ext uri="{FF2B5EF4-FFF2-40B4-BE49-F238E27FC236}">
                <a16:creationId xmlns:a16="http://schemas.microsoft.com/office/drawing/2014/main" id="{35BEECC4-AEF8-C6D8-EFDF-6D32B6D807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24444" y="28689230"/>
            <a:ext cx="2318695" cy="1108941"/>
          </a:xfrm>
          <a:prstGeom prst="rect">
            <a:avLst/>
          </a:prstGeom>
        </p:spPr>
      </p:pic>
      <p:pic>
        <p:nvPicPr>
          <p:cNvPr id="43" name="Picture 42" descr="Light backgrounds horizontal coloured logo">
            <a:extLst>
              <a:ext uri="{FF2B5EF4-FFF2-40B4-BE49-F238E27FC236}">
                <a16:creationId xmlns:a16="http://schemas.microsoft.com/office/drawing/2014/main" id="{E9A3500B-EAF4-7FA3-483E-333DAF3E0FD0}"/>
              </a:ext>
            </a:extLst>
          </p:cNvPr>
          <p:cNvPicPr>
            <a:picLocks noChangeAspect="1"/>
          </p:cNvPicPr>
          <p:nvPr/>
        </p:nvPicPr>
        <p:blipFill>
          <a:blip r:embed="rId4"/>
          <a:stretch>
            <a:fillRect/>
          </a:stretch>
        </p:blipFill>
        <p:spPr>
          <a:xfrm>
            <a:off x="33701870" y="28578892"/>
            <a:ext cx="6223478" cy="1379414"/>
          </a:xfrm>
          <a:prstGeom prst="rect">
            <a:avLst/>
          </a:prstGeom>
        </p:spPr>
      </p:pic>
      <p:sp>
        <p:nvSpPr>
          <p:cNvPr id="44" name="Rectangle 43">
            <a:extLst>
              <a:ext uri="{FF2B5EF4-FFF2-40B4-BE49-F238E27FC236}">
                <a16:creationId xmlns:a16="http://schemas.microsoft.com/office/drawing/2014/main" id="{B804327C-7145-C308-32C5-F03A32D47481}"/>
              </a:ext>
            </a:extLst>
          </p:cNvPr>
          <p:cNvSpPr/>
          <p:nvPr/>
        </p:nvSpPr>
        <p:spPr>
          <a:xfrm>
            <a:off x="-18473" y="28422600"/>
            <a:ext cx="2914073" cy="1852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7" name="Graphic 46">
            <a:extLst>
              <a:ext uri="{FF2B5EF4-FFF2-40B4-BE49-F238E27FC236}">
                <a16:creationId xmlns:a16="http://schemas.microsoft.com/office/drawing/2014/main" id="{985739E2-7849-D672-0EDF-DC4532A564E9}"/>
              </a:ext>
            </a:extLst>
          </p:cNvPr>
          <p:cNvPicPr>
            <a:picLocks noChangeAspect="1"/>
          </p:cNvPicPr>
          <p:nvPr/>
        </p:nvPicPr>
        <p:blipFill>
          <a:blip>
            <a:extLst>
              <a:ext uri="{96DAC541-7B7A-43D3-8B79-37D633B846F1}">
                <asvg:svgBlip xmlns:asvg="http://schemas.microsoft.com/office/drawing/2016/SVG/main" r:embed="rId5"/>
              </a:ext>
            </a:extLst>
          </a:blip>
          <a:srcRect r="54968"/>
          <a:stretch>
            <a:fillRect/>
          </a:stretch>
        </p:blipFill>
        <p:spPr>
          <a:xfrm>
            <a:off x="22047281" y="28738988"/>
            <a:ext cx="4326677" cy="1219835"/>
          </a:xfrm>
          <a:prstGeom prst="rect">
            <a:avLst/>
          </a:prstGeom>
        </p:spPr>
      </p:pic>
      <p:pic>
        <p:nvPicPr>
          <p:cNvPr id="48" name="Picture 47">
            <a:extLst>
              <a:ext uri="{FF2B5EF4-FFF2-40B4-BE49-F238E27FC236}">
                <a16:creationId xmlns:a16="http://schemas.microsoft.com/office/drawing/2014/main" id="{D458BF25-33B9-1904-42C0-ABC93938CF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573054" y="28630246"/>
            <a:ext cx="6929720" cy="1379414"/>
          </a:xfrm>
          <a:prstGeom prst="rect">
            <a:avLst/>
          </a:prstGeom>
        </p:spPr>
      </p:pic>
      <p:sp>
        <p:nvSpPr>
          <p:cNvPr id="20" name="Rectangle 19">
            <a:extLst>
              <a:ext uri="{FF2B5EF4-FFF2-40B4-BE49-F238E27FC236}">
                <a16:creationId xmlns:a16="http://schemas.microsoft.com/office/drawing/2014/main" id="{BCC72656-9A03-D5B2-7F0B-156D5B2FE2FD}"/>
              </a:ext>
            </a:extLst>
          </p:cNvPr>
          <p:cNvSpPr>
            <a:spLocks/>
          </p:cNvSpPr>
          <p:nvPr/>
        </p:nvSpPr>
        <p:spPr>
          <a:xfrm>
            <a:off x="0" y="-1"/>
            <a:ext cx="42803763" cy="2160000"/>
          </a:xfrm>
          <a:prstGeom prst="rect">
            <a:avLst/>
          </a:prstGeom>
          <a:solidFill>
            <a:srgbClr val="A80F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rgbClr val="E31837"/>
              </a:solidFill>
            </a:endParaRPr>
          </a:p>
        </p:txBody>
      </p:sp>
      <p:sp>
        <p:nvSpPr>
          <p:cNvPr id="26" name="TextBox 25">
            <a:extLst>
              <a:ext uri="{FF2B5EF4-FFF2-40B4-BE49-F238E27FC236}">
                <a16:creationId xmlns:a16="http://schemas.microsoft.com/office/drawing/2014/main" id="{F88E9F16-F1DA-3516-4568-57B5C7749173}"/>
              </a:ext>
            </a:extLst>
          </p:cNvPr>
          <p:cNvSpPr txBox="1">
            <a:spLocks/>
          </p:cNvSpPr>
          <p:nvPr/>
        </p:nvSpPr>
        <p:spPr>
          <a:xfrm>
            <a:off x="2160000" y="518160"/>
            <a:ext cx="38520000" cy="861774"/>
          </a:xfrm>
          <a:prstGeom prst="rect">
            <a:avLst/>
          </a:prstGeom>
          <a:noFill/>
        </p:spPr>
        <p:txBody>
          <a:bodyPr wrap="square" rtlCol="0">
            <a:spAutoFit/>
          </a:bodyPr>
          <a:lstStyle/>
          <a:p>
            <a:pPr algn="ctr"/>
            <a:r>
              <a:rPr lang="en-US" sz="5000" b="1" dirty="0">
                <a:solidFill>
                  <a:schemeClr val="bg1"/>
                </a:solidFill>
              </a:rPr>
              <a:t>Hardware-in-the-Loop Validation of Physics-Informed Neural Network for Angles-Only Initial Orbit Determination in Very Short Arcs.</a:t>
            </a:r>
            <a:endParaRPr lang="en-CA" sz="5000" b="1" dirty="0">
              <a:solidFill>
                <a:schemeClr val="bg1"/>
              </a:solidFill>
            </a:endParaRPr>
          </a:p>
        </p:txBody>
      </p:sp>
      <p:sp>
        <p:nvSpPr>
          <p:cNvPr id="41" name="TextBox 40">
            <a:extLst>
              <a:ext uri="{FF2B5EF4-FFF2-40B4-BE49-F238E27FC236}">
                <a16:creationId xmlns:a16="http://schemas.microsoft.com/office/drawing/2014/main" id="{AFF6579E-0062-4894-AF98-A7BF072D28EE}"/>
              </a:ext>
            </a:extLst>
          </p:cNvPr>
          <p:cNvSpPr txBox="1">
            <a:spLocks/>
          </p:cNvSpPr>
          <p:nvPr/>
        </p:nvSpPr>
        <p:spPr>
          <a:xfrm>
            <a:off x="2160000" y="1417036"/>
            <a:ext cx="38520000" cy="769441"/>
          </a:xfrm>
          <a:prstGeom prst="rect">
            <a:avLst/>
          </a:prstGeom>
          <a:noFill/>
        </p:spPr>
        <p:txBody>
          <a:bodyPr wrap="square" rtlCol="0">
            <a:spAutoFit/>
          </a:bodyPr>
          <a:lstStyle/>
          <a:p>
            <a:pPr algn="ctr"/>
            <a:r>
              <a:rPr lang="en-CA" sz="4400" dirty="0">
                <a:solidFill>
                  <a:schemeClr val="bg1"/>
                </a:solidFill>
              </a:rPr>
              <a:t>Ian Porto</a:t>
            </a:r>
            <a:r>
              <a:rPr lang="en-CA" sz="4400" baseline="30000" dirty="0">
                <a:solidFill>
                  <a:schemeClr val="bg1"/>
                </a:solidFill>
              </a:rPr>
              <a:t>*</a:t>
            </a:r>
            <a:r>
              <a:rPr lang="en-CA" sz="4400" dirty="0">
                <a:solidFill>
                  <a:schemeClr val="bg1"/>
                </a:solidFill>
              </a:rPr>
              <a:t>, Marissa Myhre, Sofia </a:t>
            </a:r>
            <a:r>
              <a:rPr lang="en-CA" sz="4400" dirty="0" err="1">
                <a:solidFill>
                  <a:schemeClr val="bg1"/>
                </a:solidFill>
              </a:rPr>
              <a:t>Mesón</a:t>
            </a:r>
            <a:r>
              <a:rPr lang="en-CA" sz="4400" dirty="0">
                <a:solidFill>
                  <a:schemeClr val="bg1"/>
                </a:solidFill>
              </a:rPr>
              <a:t>-Pérez, Angel Porras-Hermoso, </a:t>
            </a:r>
            <a:r>
              <a:rPr lang="en-CA" sz="4400" dirty="0" err="1">
                <a:solidFill>
                  <a:schemeClr val="bg1"/>
                </a:solidFill>
              </a:rPr>
              <a:t>Gunho</a:t>
            </a:r>
            <a:r>
              <a:rPr lang="en-CA" sz="4400" dirty="0">
                <a:solidFill>
                  <a:schemeClr val="bg1"/>
                </a:solidFill>
              </a:rPr>
              <a:t> Sohn, Regina S.K. Lee</a:t>
            </a:r>
            <a:r>
              <a:rPr lang="en-CA" sz="4400" baseline="30000" dirty="0">
                <a:solidFill>
                  <a:schemeClr val="bg1"/>
                </a:solidFill>
              </a:rPr>
              <a:t>*</a:t>
            </a:r>
          </a:p>
        </p:txBody>
      </p:sp>
      <p:pic>
        <p:nvPicPr>
          <p:cNvPr id="45" name="Picture 44">
            <a:extLst>
              <a:ext uri="{FF2B5EF4-FFF2-40B4-BE49-F238E27FC236}">
                <a16:creationId xmlns:a16="http://schemas.microsoft.com/office/drawing/2014/main" id="{0C1D8731-8588-A13C-F901-27F023A046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270451" y="359999"/>
            <a:ext cx="2076560" cy="1799999"/>
          </a:xfrm>
          <a:prstGeom prst="rect">
            <a:avLst/>
          </a:prstGeom>
        </p:spPr>
      </p:pic>
      <p:pic>
        <p:nvPicPr>
          <p:cNvPr id="46" name="Graphic 45">
            <a:extLst>
              <a:ext uri="{FF2B5EF4-FFF2-40B4-BE49-F238E27FC236}">
                <a16:creationId xmlns:a16="http://schemas.microsoft.com/office/drawing/2014/main" id="{B05D7948-A1CB-49FA-F68A-B3A037E4C98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4320" y="558120"/>
            <a:ext cx="1375200" cy="1440000"/>
          </a:xfrm>
          <a:prstGeom prst="rect">
            <a:avLst/>
          </a:prstGeom>
        </p:spPr>
      </p:pic>
      <p:sp>
        <p:nvSpPr>
          <p:cNvPr id="89" name="TextBox 88">
            <a:extLst>
              <a:ext uri="{FF2B5EF4-FFF2-40B4-BE49-F238E27FC236}">
                <a16:creationId xmlns:a16="http://schemas.microsoft.com/office/drawing/2014/main" id="{B5A8CF2B-4300-95DF-668B-6BB80855390B}"/>
              </a:ext>
            </a:extLst>
          </p:cNvPr>
          <p:cNvSpPr txBox="1"/>
          <p:nvPr/>
        </p:nvSpPr>
        <p:spPr>
          <a:xfrm>
            <a:off x="180000" y="28440000"/>
            <a:ext cx="17041201" cy="1569660"/>
          </a:xfrm>
          <a:prstGeom prst="rect">
            <a:avLst/>
          </a:prstGeom>
          <a:noFill/>
        </p:spPr>
        <p:txBody>
          <a:bodyPr wrap="square" rtlCol="0">
            <a:spAutoFit/>
          </a:bodyPr>
          <a:lstStyle/>
          <a:p>
            <a:r>
              <a:rPr lang="en-CA" sz="4800" dirty="0"/>
              <a:t>* Corresponding Authors: Ianporto@yorku.ca, reginal@yorku.ca</a:t>
            </a:r>
          </a:p>
          <a:p>
            <a:r>
              <a:rPr lang="en-CA" sz="4800" dirty="0"/>
              <a:t>York University, Toronto, Ontario, Canada</a:t>
            </a:r>
          </a:p>
        </p:txBody>
      </p:sp>
      <p:grpSp>
        <p:nvGrpSpPr>
          <p:cNvPr id="21" name="Group 20">
            <a:extLst>
              <a:ext uri="{FF2B5EF4-FFF2-40B4-BE49-F238E27FC236}">
                <a16:creationId xmlns:a16="http://schemas.microsoft.com/office/drawing/2014/main" id="{68E80F62-6804-F52F-D1AC-1CC64E29246C}"/>
              </a:ext>
            </a:extLst>
          </p:cNvPr>
          <p:cNvGrpSpPr/>
          <p:nvPr/>
        </p:nvGrpSpPr>
        <p:grpSpPr>
          <a:xfrm>
            <a:off x="40679998" y="25246765"/>
            <a:ext cx="1800002" cy="3105866"/>
            <a:chOff x="40679998" y="24795354"/>
            <a:chExt cx="1800002" cy="3105866"/>
          </a:xfrm>
        </p:grpSpPr>
        <p:sp>
          <p:nvSpPr>
            <p:cNvPr id="90" name="TextBox 89">
              <a:extLst>
                <a:ext uri="{FF2B5EF4-FFF2-40B4-BE49-F238E27FC236}">
                  <a16:creationId xmlns:a16="http://schemas.microsoft.com/office/drawing/2014/main" id="{892E6793-BC77-0A3C-6214-F80AFC64BDCF}"/>
                </a:ext>
              </a:extLst>
            </p:cNvPr>
            <p:cNvSpPr txBox="1"/>
            <p:nvPr/>
          </p:nvSpPr>
          <p:spPr>
            <a:xfrm>
              <a:off x="40679998" y="24795354"/>
              <a:ext cx="1800000" cy="1046440"/>
            </a:xfrm>
            <a:prstGeom prst="rect">
              <a:avLst/>
            </a:prstGeom>
            <a:noFill/>
          </p:spPr>
          <p:txBody>
            <a:bodyPr wrap="square" tIns="0" bIns="0" rtlCol="0" anchor="ctr" anchorCtr="0">
              <a:spAutoFit/>
            </a:bodyPr>
            <a:lstStyle/>
            <a:p>
              <a:pPr algn="ctr"/>
              <a:r>
                <a:rPr lang="en-CA" sz="3400" b="1" dirty="0"/>
                <a:t>Sources&amp; MORE</a:t>
              </a:r>
            </a:p>
          </p:txBody>
        </p:sp>
        <p:sp>
          <p:nvSpPr>
            <p:cNvPr id="91" name="TextBox 90">
              <a:extLst>
                <a:ext uri="{FF2B5EF4-FFF2-40B4-BE49-F238E27FC236}">
                  <a16:creationId xmlns:a16="http://schemas.microsoft.com/office/drawing/2014/main" id="{890B9FB6-7988-28A9-D7FC-AE61BE49DADD}"/>
                </a:ext>
              </a:extLst>
            </p:cNvPr>
            <p:cNvSpPr txBox="1"/>
            <p:nvPr/>
          </p:nvSpPr>
          <p:spPr>
            <a:xfrm>
              <a:off x="40680000" y="27378000"/>
              <a:ext cx="1800000" cy="523220"/>
            </a:xfrm>
            <a:prstGeom prst="rect">
              <a:avLst/>
            </a:prstGeom>
            <a:noFill/>
          </p:spPr>
          <p:txBody>
            <a:bodyPr wrap="square" tIns="0" bIns="0" rtlCol="0" anchor="ctr" anchorCtr="0">
              <a:spAutoFit/>
            </a:bodyPr>
            <a:lstStyle/>
            <a:p>
              <a:pPr algn="ctr"/>
              <a:r>
                <a:rPr lang="en-CA" sz="3400" b="1" dirty="0"/>
                <a:t>INFO</a:t>
              </a:r>
            </a:p>
          </p:txBody>
        </p:sp>
        <p:pic>
          <p:nvPicPr>
            <p:cNvPr id="19" name="Picture 18">
              <a:extLst>
                <a:ext uri="{FF2B5EF4-FFF2-40B4-BE49-F238E27FC236}">
                  <a16:creationId xmlns:a16="http://schemas.microsoft.com/office/drawing/2014/main" id="{D98136D0-CCDF-73DD-0FFF-6A650726A5F9}"/>
                </a:ext>
              </a:extLst>
            </p:cNvPr>
            <p:cNvPicPr>
              <a:picLocks noChangeAspect="1"/>
            </p:cNvPicPr>
            <p:nvPr/>
          </p:nvPicPr>
          <p:blipFill>
            <a:blip r:embed="rId9"/>
            <a:stretch>
              <a:fillRect/>
            </a:stretch>
          </p:blipFill>
          <p:spPr>
            <a:xfrm>
              <a:off x="40763101" y="25796402"/>
              <a:ext cx="1633795" cy="1633795"/>
            </a:xfrm>
            <a:prstGeom prst="rect">
              <a:avLst/>
            </a:prstGeom>
          </p:spPr>
        </p:pic>
      </p:grpSp>
      <p:sp>
        <p:nvSpPr>
          <p:cNvPr id="22" name="Rectangle: Rounded Corners 21">
            <a:extLst>
              <a:ext uri="{FF2B5EF4-FFF2-40B4-BE49-F238E27FC236}">
                <a16:creationId xmlns:a16="http://schemas.microsoft.com/office/drawing/2014/main" id="{23D57E70-EB9A-8C37-D927-1C41C3CEE4E4}"/>
              </a:ext>
            </a:extLst>
          </p:cNvPr>
          <p:cNvSpPr>
            <a:spLocks/>
          </p:cNvSpPr>
          <p:nvPr/>
        </p:nvSpPr>
        <p:spPr>
          <a:xfrm>
            <a:off x="14040000" y="12401538"/>
            <a:ext cx="14724000" cy="16020462"/>
          </a:xfrm>
          <a:prstGeom prst="roundRect">
            <a:avLst>
              <a:gd name="adj" fmla="val 2004"/>
            </a:avLst>
          </a:prstGeom>
          <a:solidFill>
            <a:srgbClr val="E1DFDC"/>
          </a:solidFill>
          <a:effectLst>
            <a:outerShdw blurRad="50800" dist="38100" dir="8100000" algn="tr"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685800" indent="-685800">
              <a:buFontTx/>
              <a:buChar char="-"/>
            </a:pPr>
            <a:endParaRPr lang="en-CA" sz="5400" dirty="0">
              <a:solidFill>
                <a:schemeClr val="tx1"/>
              </a:solidFill>
            </a:endParaRPr>
          </a:p>
        </p:txBody>
      </p:sp>
      <p:sp>
        <p:nvSpPr>
          <p:cNvPr id="23" name="Rectangle: Top Corners Rounded 22">
            <a:extLst>
              <a:ext uri="{FF2B5EF4-FFF2-40B4-BE49-F238E27FC236}">
                <a16:creationId xmlns:a16="http://schemas.microsoft.com/office/drawing/2014/main" id="{568E1153-9AB1-AEC8-9BEE-7BBB2ECD477D}"/>
              </a:ext>
            </a:extLst>
          </p:cNvPr>
          <p:cNvSpPr>
            <a:spLocks/>
          </p:cNvSpPr>
          <p:nvPr/>
        </p:nvSpPr>
        <p:spPr>
          <a:xfrm>
            <a:off x="14055218" y="12402000"/>
            <a:ext cx="14724000" cy="1080000"/>
          </a:xfrm>
          <a:prstGeom prst="round2SameRect">
            <a:avLst>
              <a:gd name="adj1" fmla="val 27215"/>
              <a:gd name="adj2" fmla="val 0"/>
            </a:avLst>
          </a:prstGeom>
          <a:solidFill>
            <a:srgbClr val="81000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4800" dirty="0"/>
              <a:t>4. ARCHITECTURE METHODOLOGIES</a:t>
            </a:r>
          </a:p>
        </p:txBody>
      </p:sp>
      <p:sp>
        <p:nvSpPr>
          <p:cNvPr id="51" name="TextBox 50">
            <a:extLst>
              <a:ext uri="{FF2B5EF4-FFF2-40B4-BE49-F238E27FC236}">
                <a16:creationId xmlns:a16="http://schemas.microsoft.com/office/drawing/2014/main" id="{02660FEA-B964-3D83-F653-C47394C345B9}"/>
              </a:ext>
            </a:extLst>
          </p:cNvPr>
          <p:cNvSpPr txBox="1"/>
          <p:nvPr/>
        </p:nvSpPr>
        <p:spPr>
          <a:xfrm>
            <a:off x="251999" y="3468560"/>
            <a:ext cx="13500000" cy="2554545"/>
          </a:xfrm>
          <a:prstGeom prst="rect">
            <a:avLst/>
          </a:prstGeom>
          <a:noFill/>
        </p:spPr>
        <p:txBody>
          <a:bodyPr wrap="square" rtlCol="0">
            <a:spAutoFit/>
          </a:bodyPr>
          <a:lstStyle/>
          <a:p>
            <a:pPr algn="just"/>
            <a:r>
              <a:rPr lang="en-US" sz="3200" b="1" dirty="0"/>
              <a:t>Motivation: </a:t>
            </a:r>
            <a:r>
              <a:rPr lang="en-CA" sz="3200" dirty="0"/>
              <a:t>The rapid proliferation of mega-constellations is driving an exponential increase in Resident Space Objects (RSOs) in Low Earth Orbit (LEO). To mitigate collision risks and prevent Kessler Syndrome, highly scalable and cost-effective sensor networks are required.</a:t>
            </a:r>
          </a:p>
          <a:p>
            <a:pPr algn="just"/>
            <a:r>
              <a:rPr lang="en-CA" sz="3200" dirty="0"/>
              <a:t>Star trackers offer a scalable, space-based solution for RSO tracking.</a:t>
            </a:r>
          </a:p>
        </p:txBody>
      </p:sp>
      <p:sp>
        <p:nvSpPr>
          <p:cNvPr id="25" name="TextBox 24">
            <a:extLst>
              <a:ext uri="{FF2B5EF4-FFF2-40B4-BE49-F238E27FC236}">
                <a16:creationId xmlns:a16="http://schemas.microsoft.com/office/drawing/2014/main" id="{FD4F727B-EDF4-5AD3-0464-B640C47FFF79}"/>
              </a:ext>
            </a:extLst>
          </p:cNvPr>
          <p:cNvSpPr txBox="1"/>
          <p:nvPr/>
        </p:nvSpPr>
        <p:spPr>
          <a:xfrm>
            <a:off x="14111999" y="3495895"/>
            <a:ext cx="9643245" cy="5509200"/>
          </a:xfrm>
          <a:prstGeom prst="rect">
            <a:avLst/>
          </a:prstGeom>
          <a:noFill/>
        </p:spPr>
        <p:txBody>
          <a:bodyPr wrap="square" rtlCol="0">
            <a:spAutoFit/>
          </a:bodyPr>
          <a:lstStyle/>
          <a:p>
            <a:pPr algn="just"/>
            <a:r>
              <a:rPr lang="en-CA" sz="3200" dirty="0"/>
              <a:t>The second step of this process uses an Airbus Star Tracker Optical Simulator (STOS) to physically light up the sensor with point sources for stars, and for RSOs. By projecting these synthetic point sources directly into the optical chain of the payload, we capture flight-representative, non-Gaussian noise and realistic sensor degradation modes that are difficult to purely simulate in software. The true inertial states from STK serve as the absolute ground truth, synchronized with the hardware-in-the-loop to ensure accurate benchmarking.</a:t>
            </a:r>
            <a:endParaRPr lang="en-US" sz="3200" dirty="0"/>
          </a:p>
        </p:txBody>
      </p:sp>
      <p:sp>
        <p:nvSpPr>
          <p:cNvPr id="58" name="TextBox 57">
            <a:extLst>
              <a:ext uri="{FF2B5EF4-FFF2-40B4-BE49-F238E27FC236}">
                <a16:creationId xmlns:a16="http://schemas.microsoft.com/office/drawing/2014/main" id="{A4D93F84-A64B-883D-A962-4A5F1ACABCF8}"/>
              </a:ext>
            </a:extLst>
          </p:cNvPr>
          <p:cNvSpPr txBox="1"/>
          <p:nvPr/>
        </p:nvSpPr>
        <p:spPr>
          <a:xfrm>
            <a:off x="29016000" y="3528817"/>
            <a:ext cx="13536000" cy="3046988"/>
          </a:xfrm>
          <a:prstGeom prst="rect">
            <a:avLst/>
          </a:prstGeom>
          <a:noFill/>
        </p:spPr>
        <p:txBody>
          <a:bodyPr wrap="square" rtlCol="0">
            <a:spAutoFit/>
          </a:bodyPr>
          <a:lstStyle/>
          <a:p>
            <a:pPr algn="just"/>
            <a:r>
              <a:rPr lang="en-CA" sz="3200" b="1" dirty="0"/>
              <a:t>Preliminary Analysis </a:t>
            </a:r>
            <a:r>
              <a:rPr lang="en-CA" sz="3200" dirty="0"/>
              <a:t>of the very short arcs under 80 seconds, show that all three methods perform about equivalently, with the PINN performing slightly better than the classical (Gooding’s) baseline as seen in figures 6. However, looking figure 7 with the arcs under 10 seconds, the regime the network was designed for, shows that the PINN methodology experiences an ~4 times increase in successes as shown in table 1.</a:t>
            </a:r>
          </a:p>
        </p:txBody>
      </p:sp>
      <p:sp>
        <p:nvSpPr>
          <p:cNvPr id="59" name="TextBox 58">
            <a:extLst>
              <a:ext uri="{FF2B5EF4-FFF2-40B4-BE49-F238E27FC236}">
                <a16:creationId xmlns:a16="http://schemas.microsoft.com/office/drawing/2014/main" id="{0B24E14F-19AE-37F6-0E70-83071C568B89}"/>
              </a:ext>
            </a:extLst>
          </p:cNvPr>
          <p:cNvSpPr txBox="1"/>
          <p:nvPr/>
        </p:nvSpPr>
        <p:spPr>
          <a:xfrm>
            <a:off x="14112000" y="13482793"/>
            <a:ext cx="14580000" cy="3046988"/>
          </a:xfrm>
          <a:prstGeom prst="rect">
            <a:avLst/>
          </a:prstGeom>
          <a:noFill/>
        </p:spPr>
        <p:txBody>
          <a:bodyPr wrap="square" rtlCol="0">
            <a:spAutoFit/>
          </a:bodyPr>
          <a:lstStyle/>
          <a:p>
            <a:pPr algn="just"/>
            <a:r>
              <a:rPr lang="en-US" sz="3200" b="1" dirty="0"/>
              <a:t>The Physics-Informed Neural Network (PINN) </a:t>
            </a:r>
            <a:r>
              <a:rPr lang="en-US" sz="3200" dirty="0"/>
              <a:t>is split into two distinct sections, all beginning from the measured RA and DEC which are outputted either by the Resident Space Object detection and tracking code, or for preliminary results, simply pulled from the truth information inputted into the Starfield Simulator.</a:t>
            </a:r>
          </a:p>
          <a:p>
            <a:pPr algn="just"/>
            <a:r>
              <a:rPr lang="en-US" sz="3200" b="1" dirty="0"/>
              <a:t>A metaheuristic solver</a:t>
            </a:r>
            <a:r>
              <a:rPr lang="en-US" sz="3200" dirty="0"/>
              <a:t> is first used to estimate the coarse orbit, in this work we use an Artificial Bee Colony (ABC), which estimates the orbit in three phases. </a:t>
            </a:r>
          </a:p>
        </p:txBody>
      </p:sp>
      <p:sp>
        <p:nvSpPr>
          <p:cNvPr id="12" name="TextBox 11">
            <a:extLst>
              <a:ext uri="{FF2B5EF4-FFF2-40B4-BE49-F238E27FC236}">
                <a16:creationId xmlns:a16="http://schemas.microsoft.com/office/drawing/2014/main" id="{F10228C2-42B1-0CB5-B7CE-7F10C13B6011}"/>
              </a:ext>
            </a:extLst>
          </p:cNvPr>
          <p:cNvSpPr txBox="1"/>
          <p:nvPr/>
        </p:nvSpPr>
        <p:spPr>
          <a:xfrm>
            <a:off x="252000" y="16951415"/>
            <a:ext cx="13500000" cy="5016758"/>
          </a:xfrm>
          <a:prstGeom prst="rect">
            <a:avLst/>
          </a:prstGeom>
          <a:noFill/>
        </p:spPr>
        <p:txBody>
          <a:bodyPr wrap="square" rtlCol="0">
            <a:spAutoFit/>
          </a:bodyPr>
          <a:lstStyle/>
          <a:p>
            <a:pPr algn="just"/>
            <a:r>
              <a:rPr lang="en-CA" sz="3200" b="1" dirty="0"/>
              <a:t>The Observer’s Orbit</a:t>
            </a:r>
            <a:r>
              <a:rPr lang="en-CA" sz="3200" dirty="0"/>
              <a:t> has been selected based on the UPMSat-4 mission’s profile. As such two candidate Sun Synchronous Orbits (SSO) were defined, both with the same Anti-Ram pointing for the sensor. The first candidate orbit is a 10:30am SSO at 550 km, the second candidate orbit is a 12:30pm SSO at 550 km.</a:t>
            </a:r>
            <a:endParaRPr lang="en-CA" sz="3200" b="1" dirty="0"/>
          </a:p>
          <a:p>
            <a:pPr algn="just"/>
            <a:r>
              <a:rPr lang="en-CA" sz="3200" b="1" dirty="0"/>
              <a:t>The Targets </a:t>
            </a:r>
            <a:r>
              <a:rPr lang="en-CA" sz="3200" dirty="0"/>
              <a:t>were simulated using ANSYS System Tool Kit (STK). We computed the access of satellites within the sensor’s Field of View using their Two Line Elements (TLE) to output their Right Ascension (RA) and Declination (DEC) and their true State (ECI Position and Velocity) to be used as the truth values.</a:t>
            </a:r>
            <a:endParaRPr lang="en-CA" sz="3200" b="1" dirty="0"/>
          </a:p>
        </p:txBody>
      </p:sp>
      <p:graphicFrame>
        <p:nvGraphicFramePr>
          <p:cNvPr id="60" name="Table 59">
            <a:extLst>
              <a:ext uri="{FF2B5EF4-FFF2-40B4-BE49-F238E27FC236}">
                <a16:creationId xmlns:a16="http://schemas.microsoft.com/office/drawing/2014/main" id="{7709CD49-5B78-8313-ED2E-30A804607166}"/>
              </a:ext>
            </a:extLst>
          </p:cNvPr>
          <p:cNvGraphicFramePr>
            <a:graphicFrameLocks noGrp="1"/>
          </p:cNvGraphicFramePr>
          <p:nvPr>
            <p:extLst>
              <p:ext uri="{D42A27DB-BD31-4B8C-83A1-F6EECF244321}">
                <p14:modId xmlns:p14="http://schemas.microsoft.com/office/powerpoint/2010/main" val="3125765594"/>
              </p:ext>
            </p:extLst>
          </p:nvPr>
        </p:nvGraphicFramePr>
        <p:xfrm>
          <a:off x="30086710" y="11838914"/>
          <a:ext cx="11394106" cy="2267231"/>
        </p:xfrm>
        <a:graphic>
          <a:graphicData uri="http://schemas.openxmlformats.org/drawingml/2006/table">
            <a:tbl>
              <a:tblPr firstRow="1" bandRow="1">
                <a:tableStyleId>{5C22544A-7EE6-4342-B048-85BDC9FD1C3A}</a:tableStyleId>
              </a:tblPr>
              <a:tblGrid>
                <a:gridCol w="5096984">
                  <a:extLst>
                    <a:ext uri="{9D8B030D-6E8A-4147-A177-3AD203B41FA5}">
                      <a16:colId xmlns:a16="http://schemas.microsoft.com/office/drawing/2014/main" val="715806209"/>
                    </a:ext>
                  </a:extLst>
                </a:gridCol>
                <a:gridCol w="2221485">
                  <a:extLst>
                    <a:ext uri="{9D8B030D-6E8A-4147-A177-3AD203B41FA5}">
                      <a16:colId xmlns:a16="http://schemas.microsoft.com/office/drawing/2014/main" val="3131801559"/>
                    </a:ext>
                  </a:extLst>
                </a:gridCol>
                <a:gridCol w="2091764">
                  <a:extLst>
                    <a:ext uri="{9D8B030D-6E8A-4147-A177-3AD203B41FA5}">
                      <a16:colId xmlns:a16="http://schemas.microsoft.com/office/drawing/2014/main" val="2791275228"/>
                    </a:ext>
                  </a:extLst>
                </a:gridCol>
                <a:gridCol w="1983873">
                  <a:extLst>
                    <a:ext uri="{9D8B030D-6E8A-4147-A177-3AD203B41FA5}">
                      <a16:colId xmlns:a16="http://schemas.microsoft.com/office/drawing/2014/main" val="903285395"/>
                    </a:ext>
                  </a:extLst>
                </a:gridCol>
              </a:tblGrid>
              <a:tr h="562496">
                <a:tc>
                  <a:txBody>
                    <a:bodyPr/>
                    <a:lstStyle/>
                    <a:p>
                      <a:r>
                        <a:rPr lang="en-CA" sz="3200" dirty="0"/>
                        <a:t>Error Metrics</a:t>
                      </a:r>
                    </a:p>
                  </a:txBody>
                  <a:tcPr>
                    <a:solidFill>
                      <a:srgbClr val="810001"/>
                    </a:solidFill>
                  </a:tcPr>
                </a:tc>
                <a:tc>
                  <a:txBody>
                    <a:bodyPr/>
                    <a:lstStyle/>
                    <a:p>
                      <a:r>
                        <a:rPr lang="en-CA" sz="3200" dirty="0"/>
                        <a:t>Classical</a:t>
                      </a:r>
                    </a:p>
                  </a:txBody>
                  <a:tcPr>
                    <a:solidFill>
                      <a:srgbClr val="810001"/>
                    </a:solidFill>
                  </a:tcPr>
                </a:tc>
                <a:tc>
                  <a:txBody>
                    <a:bodyPr/>
                    <a:lstStyle/>
                    <a:p>
                      <a:r>
                        <a:rPr lang="en-CA" sz="3200" dirty="0"/>
                        <a:t>ABC</a:t>
                      </a:r>
                    </a:p>
                  </a:txBody>
                  <a:tcPr>
                    <a:solidFill>
                      <a:srgbClr val="810001"/>
                    </a:solidFill>
                  </a:tcPr>
                </a:tc>
                <a:tc>
                  <a:txBody>
                    <a:bodyPr/>
                    <a:lstStyle/>
                    <a:p>
                      <a:r>
                        <a:rPr lang="en-CA" sz="3200" dirty="0"/>
                        <a:t>PIELM</a:t>
                      </a:r>
                    </a:p>
                  </a:txBody>
                  <a:tcPr>
                    <a:solidFill>
                      <a:srgbClr val="810001"/>
                    </a:solidFill>
                  </a:tcPr>
                </a:tc>
                <a:extLst>
                  <a:ext uri="{0D108BD9-81ED-4DB2-BD59-A6C34878D82A}">
                    <a16:rowId xmlns:a16="http://schemas.microsoft.com/office/drawing/2014/main" val="3056511364"/>
                  </a:ext>
                </a:extLst>
              </a:tr>
              <a:tr h="562496">
                <a:tc>
                  <a:txBody>
                    <a:bodyPr/>
                    <a:lstStyle/>
                    <a:p>
                      <a:r>
                        <a:rPr lang="en-CA" sz="3200" dirty="0"/>
                        <a:t>Success &lt; 1 km (&lt;10s)</a:t>
                      </a:r>
                    </a:p>
                  </a:txBody>
                  <a:tcPr>
                    <a:solidFill>
                      <a:srgbClr val="D3A098"/>
                    </a:solidFill>
                  </a:tcPr>
                </a:tc>
                <a:tc>
                  <a:txBody>
                    <a:bodyPr/>
                    <a:lstStyle/>
                    <a:p>
                      <a:r>
                        <a:rPr lang="en-CA" sz="3200" dirty="0"/>
                        <a:t>15.98 %</a:t>
                      </a:r>
                    </a:p>
                  </a:txBody>
                  <a:tcPr>
                    <a:solidFill>
                      <a:srgbClr val="D3A098"/>
                    </a:solidFill>
                  </a:tcPr>
                </a:tc>
                <a:tc>
                  <a:txBody>
                    <a:bodyPr/>
                    <a:lstStyle/>
                    <a:p>
                      <a:r>
                        <a:rPr lang="en-CA" sz="3200" dirty="0"/>
                        <a:t>7.30 %</a:t>
                      </a:r>
                    </a:p>
                  </a:txBody>
                  <a:tcPr>
                    <a:solidFill>
                      <a:srgbClr val="D3A098"/>
                    </a:solidFill>
                  </a:tcPr>
                </a:tc>
                <a:tc>
                  <a:txBody>
                    <a:bodyPr/>
                    <a:lstStyle/>
                    <a:p>
                      <a:r>
                        <a:rPr lang="en-CA" sz="3200" dirty="0"/>
                        <a:t>53.11 %</a:t>
                      </a:r>
                    </a:p>
                  </a:txBody>
                  <a:tcPr>
                    <a:solidFill>
                      <a:srgbClr val="D3A098"/>
                    </a:solidFill>
                  </a:tcPr>
                </a:tc>
                <a:extLst>
                  <a:ext uri="{0D108BD9-81ED-4DB2-BD59-A6C34878D82A}">
                    <a16:rowId xmlns:a16="http://schemas.microsoft.com/office/drawing/2014/main" val="1764407293"/>
                  </a:ext>
                </a:extLst>
              </a:tr>
              <a:tr h="529871">
                <a:tc>
                  <a:txBody>
                    <a:bodyPr/>
                    <a:lstStyle/>
                    <a:p>
                      <a:r>
                        <a:rPr lang="en-CA" sz="3200" dirty="0"/>
                        <a:t>Acceptance &lt; 10 km (&lt;10s)</a:t>
                      </a:r>
                    </a:p>
                  </a:txBody>
                  <a:tcPr>
                    <a:lnB w="12700" cmpd="sng">
                      <a:noFill/>
                    </a:lnB>
                    <a:solidFill>
                      <a:srgbClr val="F5E7E5"/>
                    </a:solidFill>
                  </a:tcPr>
                </a:tc>
                <a:tc>
                  <a:txBody>
                    <a:bodyPr/>
                    <a:lstStyle/>
                    <a:p>
                      <a:r>
                        <a:rPr lang="en-CA" sz="3200" dirty="0"/>
                        <a:t>47.73 %</a:t>
                      </a:r>
                    </a:p>
                  </a:txBody>
                  <a:tcPr>
                    <a:lnB w="12700" cmpd="sng">
                      <a:noFill/>
                    </a:lnB>
                    <a:solidFill>
                      <a:srgbClr val="F5E7E5"/>
                    </a:solidFill>
                  </a:tcPr>
                </a:tc>
                <a:tc>
                  <a:txBody>
                    <a:bodyPr/>
                    <a:lstStyle/>
                    <a:p>
                      <a:r>
                        <a:rPr lang="en-CA" sz="3200" dirty="0"/>
                        <a:t>44.77 %</a:t>
                      </a:r>
                    </a:p>
                  </a:txBody>
                  <a:tcPr>
                    <a:lnB w="12700" cmpd="sng">
                      <a:noFill/>
                    </a:lnB>
                    <a:solidFill>
                      <a:srgbClr val="F5E7E5"/>
                    </a:solidFill>
                  </a:tcPr>
                </a:tc>
                <a:tc>
                  <a:txBody>
                    <a:bodyPr/>
                    <a:lstStyle/>
                    <a:p>
                      <a:r>
                        <a:rPr lang="en-CA" sz="3200" dirty="0"/>
                        <a:t>76.35 %</a:t>
                      </a:r>
                    </a:p>
                  </a:txBody>
                  <a:tcPr>
                    <a:lnB w="12700" cmpd="sng">
                      <a:noFill/>
                    </a:lnB>
                    <a:solidFill>
                      <a:srgbClr val="F5E7E5"/>
                    </a:solidFill>
                  </a:tcPr>
                </a:tc>
                <a:extLst>
                  <a:ext uri="{0D108BD9-81ED-4DB2-BD59-A6C34878D82A}">
                    <a16:rowId xmlns:a16="http://schemas.microsoft.com/office/drawing/2014/main" val="152517806"/>
                  </a:ext>
                </a:extLst>
              </a:tr>
              <a:tr h="529871">
                <a:tc gridSpan="4">
                  <a:txBody>
                    <a:bodyPr/>
                    <a:lstStyle/>
                    <a:p>
                      <a:pPr algn="ctr"/>
                      <a:r>
                        <a:rPr lang="en-US" sz="1800" dirty="0"/>
                        <a:t>Table 1: Error Metrics for the 490 tracks under 10 seconds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1DFDC"/>
                    </a:solidFill>
                  </a:tcPr>
                </a:tc>
                <a:tc hMerge="1">
                  <a:txBody>
                    <a:bodyPr/>
                    <a:lstStyle/>
                    <a:p>
                      <a:endParaRPr lang="en-CA"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5E7E5"/>
                    </a:solidFill>
                  </a:tcPr>
                </a:tc>
                <a:tc hMerge="1">
                  <a:txBody>
                    <a:bodyPr/>
                    <a:lstStyle/>
                    <a:p>
                      <a:endParaRPr lang="en-CA"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5E7E5"/>
                    </a:solidFill>
                  </a:tcPr>
                </a:tc>
                <a:tc hMerge="1">
                  <a:txBody>
                    <a:bodyPr/>
                    <a:lstStyle/>
                    <a:p>
                      <a:endParaRPr lang="en-CA"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5E7E5"/>
                    </a:solidFill>
                  </a:tcPr>
                </a:tc>
                <a:extLst>
                  <a:ext uri="{0D108BD9-81ED-4DB2-BD59-A6C34878D82A}">
                    <a16:rowId xmlns:a16="http://schemas.microsoft.com/office/drawing/2014/main" val="2735067556"/>
                  </a:ext>
                </a:extLst>
              </a:tr>
            </a:tbl>
          </a:graphicData>
        </a:graphic>
      </p:graphicFrame>
      <p:sp>
        <p:nvSpPr>
          <p:cNvPr id="64" name="TextBox 63">
            <a:extLst>
              <a:ext uri="{FF2B5EF4-FFF2-40B4-BE49-F238E27FC236}">
                <a16:creationId xmlns:a16="http://schemas.microsoft.com/office/drawing/2014/main" id="{3EC14578-5EA1-BA50-7D5C-4A81547B0B3F}"/>
              </a:ext>
            </a:extLst>
          </p:cNvPr>
          <p:cNvSpPr txBox="1"/>
          <p:nvPr/>
        </p:nvSpPr>
        <p:spPr>
          <a:xfrm>
            <a:off x="251999" y="25954860"/>
            <a:ext cx="13500000" cy="2554545"/>
          </a:xfrm>
          <a:prstGeom prst="rect">
            <a:avLst/>
          </a:prstGeom>
          <a:noFill/>
        </p:spPr>
        <p:txBody>
          <a:bodyPr wrap="square" rtlCol="0">
            <a:spAutoFit/>
          </a:bodyPr>
          <a:lstStyle/>
          <a:p>
            <a:pPr algn="just"/>
            <a:r>
              <a:rPr lang="en-US" sz="3200" dirty="0"/>
              <a:t>Figure 2, shows the distribution of the simulated TLEs orbital parameters. We can see that the semi-major axis and the eccentricity, are as expected, distributed normally, while the inclination has a more uniform distribution, with a few outliers. This will drive our metaheuristic solver’s penalties for incorrect orbits. </a:t>
            </a:r>
            <a:endParaRPr lang="en-CA" sz="3200" dirty="0"/>
          </a:p>
        </p:txBody>
      </p:sp>
      <p:grpSp>
        <p:nvGrpSpPr>
          <p:cNvPr id="66" name="Group 65">
            <a:extLst>
              <a:ext uri="{FF2B5EF4-FFF2-40B4-BE49-F238E27FC236}">
                <a16:creationId xmlns:a16="http://schemas.microsoft.com/office/drawing/2014/main" id="{5CD2C076-4F3C-EE89-88C9-55110D94EADE}"/>
              </a:ext>
            </a:extLst>
          </p:cNvPr>
          <p:cNvGrpSpPr>
            <a:grpSpLocks noChangeAspect="1"/>
          </p:cNvGrpSpPr>
          <p:nvPr/>
        </p:nvGrpSpPr>
        <p:grpSpPr>
          <a:xfrm>
            <a:off x="360000" y="21872670"/>
            <a:ext cx="13320000" cy="4195370"/>
            <a:chOff x="406867" y="21933631"/>
            <a:chExt cx="13203534" cy="4158687"/>
          </a:xfrm>
        </p:grpSpPr>
        <p:pic>
          <p:nvPicPr>
            <p:cNvPr id="50" name="Picture 49">
              <a:extLst>
                <a:ext uri="{FF2B5EF4-FFF2-40B4-BE49-F238E27FC236}">
                  <a16:creationId xmlns:a16="http://schemas.microsoft.com/office/drawing/2014/main" id="{8C0216F3-3E4E-2D2C-396B-BAC22EC4810F}"/>
                </a:ext>
              </a:extLst>
            </p:cNvPr>
            <p:cNvPicPr>
              <a:picLocks noChangeAspect="1"/>
            </p:cNvPicPr>
            <p:nvPr/>
          </p:nvPicPr>
          <p:blipFill>
            <a:blip r:embed="rId10"/>
            <a:stretch>
              <a:fillRect/>
            </a:stretch>
          </p:blipFill>
          <p:spPr>
            <a:xfrm>
              <a:off x="406867" y="21933631"/>
              <a:ext cx="13203534" cy="3789355"/>
            </a:xfrm>
            <a:prstGeom prst="rect">
              <a:avLst/>
            </a:prstGeom>
          </p:spPr>
        </p:pic>
        <p:sp>
          <p:nvSpPr>
            <p:cNvPr id="65" name="TextBox 64">
              <a:extLst>
                <a:ext uri="{FF2B5EF4-FFF2-40B4-BE49-F238E27FC236}">
                  <a16:creationId xmlns:a16="http://schemas.microsoft.com/office/drawing/2014/main" id="{A4D62A96-DFAC-E4F0-A320-942678B040D8}"/>
                </a:ext>
              </a:extLst>
            </p:cNvPr>
            <p:cNvSpPr txBox="1"/>
            <p:nvPr/>
          </p:nvSpPr>
          <p:spPr>
            <a:xfrm>
              <a:off x="406867" y="25722986"/>
              <a:ext cx="13203534" cy="369332"/>
            </a:xfrm>
            <a:prstGeom prst="rect">
              <a:avLst/>
            </a:prstGeom>
            <a:noFill/>
          </p:spPr>
          <p:txBody>
            <a:bodyPr wrap="square" rtlCol="0">
              <a:spAutoFit/>
            </a:bodyPr>
            <a:lstStyle/>
            <a:p>
              <a:pPr algn="ctr"/>
              <a:r>
                <a:rPr lang="en-CA" dirty="0"/>
                <a:t>Figure 2: Simulated TLE Orbital Parameter Distribution.</a:t>
              </a:r>
            </a:p>
          </p:txBody>
        </p:sp>
      </p:grpSp>
      <p:grpSp>
        <p:nvGrpSpPr>
          <p:cNvPr id="68" name="Group 67">
            <a:extLst>
              <a:ext uri="{FF2B5EF4-FFF2-40B4-BE49-F238E27FC236}">
                <a16:creationId xmlns:a16="http://schemas.microsoft.com/office/drawing/2014/main" id="{7B0C4E4D-FD7D-CA2B-6C5E-B8F4C61AD8ED}"/>
              </a:ext>
            </a:extLst>
          </p:cNvPr>
          <p:cNvGrpSpPr>
            <a:grpSpLocks noChangeAspect="1"/>
          </p:cNvGrpSpPr>
          <p:nvPr/>
        </p:nvGrpSpPr>
        <p:grpSpPr>
          <a:xfrm>
            <a:off x="23832000" y="3495894"/>
            <a:ext cx="4860000" cy="5506306"/>
            <a:chOff x="23610389" y="3495895"/>
            <a:chExt cx="4906689" cy="5559204"/>
          </a:xfrm>
        </p:grpSpPr>
        <p:pic>
          <p:nvPicPr>
            <p:cNvPr id="15" name="Picture 14">
              <a:extLst>
                <a:ext uri="{FF2B5EF4-FFF2-40B4-BE49-F238E27FC236}">
                  <a16:creationId xmlns:a16="http://schemas.microsoft.com/office/drawing/2014/main" id="{189E10D8-8EB0-018A-7576-AED32926BE02}"/>
                </a:ext>
              </a:extLst>
            </p:cNvPr>
            <p:cNvPicPr>
              <a:picLocks noChangeAspect="1"/>
            </p:cNvPicPr>
            <p:nvPr/>
          </p:nvPicPr>
          <p:blipFill>
            <a:blip r:embed="rId11">
              <a:extLst>
                <a:ext uri="{28A0092B-C50C-407E-A947-70E740481C1C}">
                  <a14:useLocalDpi xmlns:a14="http://schemas.microsoft.com/office/drawing/2010/main" val="0"/>
                </a:ext>
              </a:extLst>
            </a:blip>
            <a:srcRect l="6154" r="6531"/>
            <a:stretch>
              <a:fillRect/>
            </a:stretch>
          </p:blipFill>
          <p:spPr>
            <a:xfrm>
              <a:off x="23610626" y="3495895"/>
              <a:ext cx="4906452" cy="4912873"/>
            </a:xfrm>
            <a:prstGeom prst="rect">
              <a:avLst/>
            </a:prstGeom>
          </p:spPr>
        </p:pic>
        <p:sp>
          <p:nvSpPr>
            <p:cNvPr id="67" name="TextBox 66">
              <a:extLst>
                <a:ext uri="{FF2B5EF4-FFF2-40B4-BE49-F238E27FC236}">
                  <a16:creationId xmlns:a16="http://schemas.microsoft.com/office/drawing/2014/main" id="{4C081EB0-2D1A-B8FE-0720-5B7AF0A7D811}"/>
                </a:ext>
              </a:extLst>
            </p:cNvPr>
            <p:cNvSpPr txBox="1"/>
            <p:nvPr/>
          </p:nvSpPr>
          <p:spPr>
            <a:xfrm>
              <a:off x="23610389" y="8408768"/>
              <a:ext cx="4906689" cy="646331"/>
            </a:xfrm>
            <a:prstGeom prst="rect">
              <a:avLst/>
            </a:prstGeom>
            <a:noFill/>
          </p:spPr>
          <p:txBody>
            <a:bodyPr wrap="square" rtlCol="0">
              <a:spAutoFit/>
            </a:bodyPr>
            <a:lstStyle/>
            <a:p>
              <a:pPr algn="ctr"/>
              <a:r>
                <a:rPr lang="en-CA" dirty="0"/>
                <a:t>Figure 3: a 60 second stacked image sequence from the starfield simulator.</a:t>
              </a:r>
            </a:p>
          </p:txBody>
        </p:sp>
      </p:grpSp>
      <p:grpSp>
        <p:nvGrpSpPr>
          <p:cNvPr id="70" name="Group 69">
            <a:extLst>
              <a:ext uri="{FF2B5EF4-FFF2-40B4-BE49-F238E27FC236}">
                <a16:creationId xmlns:a16="http://schemas.microsoft.com/office/drawing/2014/main" id="{B2385DEE-5A9B-CBA0-0B90-9B6C11745ABE}"/>
              </a:ext>
            </a:extLst>
          </p:cNvPr>
          <p:cNvGrpSpPr>
            <a:grpSpLocks noChangeAspect="1"/>
          </p:cNvGrpSpPr>
          <p:nvPr/>
        </p:nvGrpSpPr>
        <p:grpSpPr>
          <a:xfrm>
            <a:off x="14741881" y="8988277"/>
            <a:ext cx="13320000" cy="3186294"/>
            <a:chOff x="14896129" y="9031046"/>
            <a:chExt cx="13011504" cy="3112498"/>
          </a:xfrm>
        </p:grpSpPr>
        <p:pic>
          <p:nvPicPr>
            <p:cNvPr id="17" name="Picture 16">
              <a:extLst>
                <a:ext uri="{FF2B5EF4-FFF2-40B4-BE49-F238E27FC236}">
                  <a16:creationId xmlns:a16="http://schemas.microsoft.com/office/drawing/2014/main" id="{2C32F245-D542-F4BF-5E90-BA5815CF047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896129" y="9031046"/>
              <a:ext cx="13011504" cy="2743166"/>
            </a:xfrm>
            <a:prstGeom prst="rect">
              <a:avLst/>
            </a:prstGeom>
          </p:spPr>
        </p:pic>
        <p:sp>
          <p:nvSpPr>
            <p:cNvPr id="69" name="TextBox 68">
              <a:extLst>
                <a:ext uri="{FF2B5EF4-FFF2-40B4-BE49-F238E27FC236}">
                  <a16:creationId xmlns:a16="http://schemas.microsoft.com/office/drawing/2014/main" id="{178FE306-D29D-87BD-C599-998A483D019F}"/>
                </a:ext>
              </a:extLst>
            </p:cNvPr>
            <p:cNvSpPr txBox="1"/>
            <p:nvPr/>
          </p:nvSpPr>
          <p:spPr>
            <a:xfrm>
              <a:off x="14896129" y="11774212"/>
              <a:ext cx="13011504" cy="369332"/>
            </a:xfrm>
            <a:prstGeom prst="rect">
              <a:avLst/>
            </a:prstGeom>
            <a:noFill/>
          </p:spPr>
          <p:txBody>
            <a:bodyPr wrap="square" rtlCol="0">
              <a:spAutoFit/>
            </a:bodyPr>
            <a:lstStyle/>
            <a:p>
              <a:pPr algn="ctr"/>
              <a:r>
                <a:rPr lang="en-CA" dirty="0"/>
                <a:t>Figure 4: The Hardware-In-The-Loop setup of the starfield simulator and the payload.</a:t>
              </a:r>
            </a:p>
          </p:txBody>
        </p:sp>
      </p:grpSp>
      <p:grpSp>
        <p:nvGrpSpPr>
          <p:cNvPr id="96" name="Group 95">
            <a:extLst>
              <a:ext uri="{FF2B5EF4-FFF2-40B4-BE49-F238E27FC236}">
                <a16:creationId xmlns:a16="http://schemas.microsoft.com/office/drawing/2014/main" id="{9240B3BA-568B-1594-7203-13DC70462353}"/>
              </a:ext>
            </a:extLst>
          </p:cNvPr>
          <p:cNvGrpSpPr>
            <a:grpSpLocks noChangeAspect="1"/>
          </p:cNvGrpSpPr>
          <p:nvPr/>
        </p:nvGrpSpPr>
        <p:grpSpPr>
          <a:xfrm>
            <a:off x="29016000" y="6556199"/>
            <a:ext cx="13536000" cy="5082660"/>
            <a:chOff x="29016000" y="6480000"/>
            <a:chExt cx="13464000" cy="5055625"/>
          </a:xfrm>
        </p:grpSpPr>
        <p:grpSp>
          <p:nvGrpSpPr>
            <p:cNvPr id="74" name="Group 73">
              <a:extLst>
                <a:ext uri="{FF2B5EF4-FFF2-40B4-BE49-F238E27FC236}">
                  <a16:creationId xmlns:a16="http://schemas.microsoft.com/office/drawing/2014/main" id="{8B2E5C56-17DE-3BB1-B64E-4444EDD7B071}"/>
                </a:ext>
              </a:extLst>
            </p:cNvPr>
            <p:cNvGrpSpPr>
              <a:grpSpLocks noChangeAspect="1"/>
            </p:cNvGrpSpPr>
            <p:nvPr/>
          </p:nvGrpSpPr>
          <p:grpSpPr>
            <a:xfrm>
              <a:off x="29016000" y="6480000"/>
              <a:ext cx="6696000" cy="5055478"/>
              <a:chOff x="29020518" y="8173742"/>
              <a:chExt cx="6699835" cy="5058373"/>
            </a:xfrm>
          </p:grpSpPr>
          <p:pic>
            <p:nvPicPr>
              <p:cNvPr id="54" name="Picture 53">
                <a:extLst>
                  <a:ext uri="{FF2B5EF4-FFF2-40B4-BE49-F238E27FC236}">
                    <a16:creationId xmlns:a16="http://schemas.microsoft.com/office/drawing/2014/main" id="{6BA76C09-96B7-8829-04D7-4598ED936BF0}"/>
                  </a:ext>
                </a:extLst>
              </p:cNvPr>
              <p:cNvPicPr>
                <a:picLocks/>
              </p:cNvPicPr>
              <p:nvPr/>
            </p:nvPicPr>
            <p:blipFill>
              <a:blip r:embed="rId13">
                <a:extLst>
                  <a:ext uri="{28A0092B-C50C-407E-A947-70E740481C1C}">
                    <a14:useLocalDpi xmlns:a14="http://schemas.microsoft.com/office/drawing/2010/main" val="0"/>
                  </a:ext>
                </a:extLst>
              </a:blip>
              <a:srcRect/>
              <a:stretch/>
            </p:blipFill>
            <p:spPr>
              <a:xfrm>
                <a:off x="29020753" y="8173742"/>
                <a:ext cx="6699600" cy="4413600"/>
              </a:xfrm>
              <a:prstGeom prst="rect">
                <a:avLst/>
              </a:prstGeom>
            </p:spPr>
          </p:pic>
          <p:sp>
            <p:nvSpPr>
              <p:cNvPr id="71" name="TextBox 70">
                <a:extLst>
                  <a:ext uri="{FF2B5EF4-FFF2-40B4-BE49-F238E27FC236}">
                    <a16:creationId xmlns:a16="http://schemas.microsoft.com/office/drawing/2014/main" id="{6EAB7993-A138-B106-30AC-CFD60B25320B}"/>
                  </a:ext>
                </a:extLst>
              </p:cNvPr>
              <p:cNvSpPr txBox="1"/>
              <p:nvPr/>
            </p:nvSpPr>
            <p:spPr>
              <a:xfrm>
                <a:off x="29020518" y="12585784"/>
                <a:ext cx="6699600" cy="646331"/>
              </a:xfrm>
              <a:prstGeom prst="rect">
                <a:avLst/>
              </a:prstGeom>
              <a:noFill/>
            </p:spPr>
            <p:txBody>
              <a:bodyPr wrap="square" rtlCol="0">
                <a:spAutoFit/>
              </a:bodyPr>
              <a:lstStyle/>
              <a:p>
                <a:pPr algn="ctr"/>
                <a:r>
                  <a:rPr lang="en-US" dirty="0"/>
                  <a:t>Figure 6: Error Distribution of the Three methods for track durations under 80 sec</a:t>
                </a:r>
                <a:endParaRPr lang="en-CA" dirty="0"/>
              </a:p>
            </p:txBody>
          </p:sp>
        </p:grpSp>
        <p:grpSp>
          <p:nvGrpSpPr>
            <p:cNvPr id="75" name="Group 74">
              <a:extLst>
                <a:ext uri="{FF2B5EF4-FFF2-40B4-BE49-F238E27FC236}">
                  <a16:creationId xmlns:a16="http://schemas.microsoft.com/office/drawing/2014/main" id="{4A335AAD-5955-E390-D0AD-609A8E773506}"/>
                </a:ext>
              </a:extLst>
            </p:cNvPr>
            <p:cNvGrpSpPr>
              <a:grpSpLocks noChangeAspect="1"/>
            </p:cNvGrpSpPr>
            <p:nvPr/>
          </p:nvGrpSpPr>
          <p:grpSpPr>
            <a:xfrm>
              <a:off x="35784000" y="6480000"/>
              <a:ext cx="6696000" cy="5055625"/>
              <a:chOff x="35780400" y="8173742"/>
              <a:chExt cx="6699640" cy="5058373"/>
            </a:xfrm>
          </p:grpSpPr>
          <p:pic>
            <p:nvPicPr>
              <p:cNvPr id="42" name="Picture 41">
                <a:extLst>
                  <a:ext uri="{FF2B5EF4-FFF2-40B4-BE49-F238E27FC236}">
                    <a16:creationId xmlns:a16="http://schemas.microsoft.com/office/drawing/2014/main" id="{C9906B06-183B-4AC5-F235-96F2F3EEFF31}"/>
                  </a:ext>
                </a:extLst>
              </p:cNvPr>
              <p:cNvPicPr>
                <a:picLocks/>
              </p:cNvPicPr>
              <p:nvPr/>
            </p:nvPicPr>
            <p:blipFill>
              <a:blip r:embed="rId14"/>
              <a:stretch>
                <a:fillRect/>
              </a:stretch>
            </p:blipFill>
            <p:spPr>
              <a:xfrm>
                <a:off x="35780440" y="8173742"/>
                <a:ext cx="6699600" cy="4412042"/>
              </a:xfrm>
              <a:prstGeom prst="rect">
                <a:avLst/>
              </a:prstGeom>
            </p:spPr>
          </p:pic>
          <p:sp>
            <p:nvSpPr>
              <p:cNvPr id="73" name="TextBox 72">
                <a:extLst>
                  <a:ext uri="{FF2B5EF4-FFF2-40B4-BE49-F238E27FC236}">
                    <a16:creationId xmlns:a16="http://schemas.microsoft.com/office/drawing/2014/main" id="{2D9BCE57-5652-FB01-5163-241B58F0C641}"/>
                  </a:ext>
                </a:extLst>
              </p:cNvPr>
              <p:cNvSpPr txBox="1"/>
              <p:nvPr/>
            </p:nvSpPr>
            <p:spPr>
              <a:xfrm>
                <a:off x="35780400" y="12585784"/>
                <a:ext cx="6699600" cy="646331"/>
              </a:xfrm>
              <a:prstGeom prst="rect">
                <a:avLst/>
              </a:prstGeom>
              <a:noFill/>
            </p:spPr>
            <p:txBody>
              <a:bodyPr wrap="square" rtlCol="0">
                <a:spAutoFit/>
              </a:bodyPr>
              <a:lstStyle/>
              <a:p>
                <a:pPr algn="ctr"/>
                <a:r>
                  <a:rPr lang="en-US" dirty="0"/>
                  <a:t>Figure 7: Error Distribution of the Three methods in the very short arc with track durations under 10 sec</a:t>
                </a:r>
                <a:endParaRPr lang="en-CA" dirty="0"/>
              </a:p>
            </p:txBody>
          </p:sp>
        </p:grpSp>
      </p:grpSp>
      <p:sp>
        <p:nvSpPr>
          <p:cNvPr id="76" name="TextBox 75">
            <a:extLst>
              <a:ext uri="{FF2B5EF4-FFF2-40B4-BE49-F238E27FC236}">
                <a16:creationId xmlns:a16="http://schemas.microsoft.com/office/drawing/2014/main" id="{FCCE6031-DEAB-4304-2C35-985CC3216F97}"/>
              </a:ext>
            </a:extLst>
          </p:cNvPr>
          <p:cNvSpPr txBox="1"/>
          <p:nvPr/>
        </p:nvSpPr>
        <p:spPr>
          <a:xfrm>
            <a:off x="29015999" y="18170769"/>
            <a:ext cx="13536000" cy="7478970"/>
          </a:xfrm>
          <a:prstGeom prst="rect">
            <a:avLst/>
          </a:prstGeom>
          <a:noFill/>
        </p:spPr>
        <p:txBody>
          <a:bodyPr wrap="square" rtlCol="0">
            <a:spAutoFit/>
          </a:bodyPr>
          <a:lstStyle/>
          <a:p>
            <a:pPr algn="just"/>
            <a:r>
              <a:rPr lang="en-CA" sz="3200" b="1" dirty="0"/>
              <a:t>Overcoming VSA Limitations:</a:t>
            </a:r>
            <a:r>
              <a:rPr lang="en-CA" sz="3200" dirty="0"/>
              <a:t> Classical Initial Orbit Determination (IOD) solvers suffer severe performance degradation during extreme Very Short Arcs. Our results demonstrate that the PIELM architecture successfully bypasses these iterative instabilities, achieving a </a:t>
            </a:r>
            <a:r>
              <a:rPr lang="en-CA" sz="3200" b="1" dirty="0"/>
              <a:t>~4x increase in highly accurate orbit estimations</a:t>
            </a:r>
            <a:r>
              <a:rPr lang="en-CA" sz="3200" dirty="0"/>
              <a:t> (under 1 km of error) for tracks under 10 seconds.</a:t>
            </a:r>
          </a:p>
          <a:p>
            <a:pPr algn="just"/>
            <a:r>
              <a:rPr lang="en-CA" sz="3200" b="1" dirty="0"/>
              <a:t>Short-Term Future Work:</a:t>
            </a:r>
            <a:r>
              <a:rPr lang="en-CA" sz="3200" dirty="0"/>
              <a:t> The performance evaluation will be rerun using input values extracted directly from the processed Hardware-in-the-Loop images, rather than relying on the initially inputted truth data.</a:t>
            </a:r>
          </a:p>
          <a:p>
            <a:pPr algn="just"/>
            <a:r>
              <a:rPr lang="en-CA" sz="3200" b="1" dirty="0"/>
              <a:t>Long-Term Future Work:</a:t>
            </a:r>
            <a:r>
              <a:rPr lang="en-CA" sz="3200" dirty="0"/>
              <a:t> Moving forward, this hardware-in-the-loop dataset will be leveraged to investigate alternative AI-based IOD methodologies. This will include evaluating different metaheuristic optimization models to replace the current Artificial Bee Colony (ABC) framework, as well as exploring deep learning architectures to further enhance orbit estimation capabilities in the VSA regime.</a:t>
            </a:r>
          </a:p>
        </p:txBody>
      </p:sp>
      <p:sp>
        <p:nvSpPr>
          <p:cNvPr id="77" name="TextBox 76">
            <a:extLst>
              <a:ext uri="{FF2B5EF4-FFF2-40B4-BE49-F238E27FC236}">
                <a16:creationId xmlns:a16="http://schemas.microsoft.com/office/drawing/2014/main" id="{A9F94079-770C-A19B-78E6-0E22A929600E}"/>
              </a:ext>
            </a:extLst>
          </p:cNvPr>
          <p:cNvSpPr txBox="1"/>
          <p:nvPr/>
        </p:nvSpPr>
        <p:spPr>
          <a:xfrm>
            <a:off x="29016000" y="14014027"/>
            <a:ext cx="13536000" cy="2554545"/>
          </a:xfrm>
          <a:prstGeom prst="rect">
            <a:avLst/>
          </a:prstGeom>
          <a:noFill/>
        </p:spPr>
        <p:txBody>
          <a:bodyPr wrap="square" rtlCol="0">
            <a:spAutoFit/>
          </a:bodyPr>
          <a:lstStyle/>
          <a:p>
            <a:pPr algn="just"/>
            <a:r>
              <a:rPr lang="en-CA" sz="3200" dirty="0"/>
              <a:t>In the highly constrained &lt; 10-second tracking window, the Physics-Informed Extreme Learning Machine (PIELM) significantly outperforms classical baselines:</a:t>
            </a:r>
          </a:p>
          <a:p>
            <a:pPr algn="just"/>
            <a:r>
              <a:rPr lang="en-CA" sz="3200" b="1" dirty="0"/>
              <a:t>~4x Boost in Sub-1 km Accuracy:</a:t>
            </a:r>
            <a:r>
              <a:rPr lang="en-CA" sz="3200" dirty="0"/>
              <a:t> (53.11% vs. 15.98%)</a:t>
            </a:r>
          </a:p>
          <a:p>
            <a:pPr algn="just"/>
            <a:r>
              <a:rPr lang="en-CA" sz="3200" b="1" dirty="0"/>
              <a:t>+31% Boost in Sub-10 km Acceptance:</a:t>
            </a:r>
            <a:r>
              <a:rPr lang="en-CA" sz="3200" dirty="0"/>
              <a:t> (76.35% vs. 47.73%)</a:t>
            </a:r>
          </a:p>
        </p:txBody>
      </p:sp>
      <p:sp>
        <p:nvSpPr>
          <p:cNvPr id="78" name="TextBox 77">
            <a:extLst>
              <a:ext uri="{FF2B5EF4-FFF2-40B4-BE49-F238E27FC236}">
                <a16:creationId xmlns:a16="http://schemas.microsoft.com/office/drawing/2014/main" id="{FF5FDA30-AE83-C944-697F-483E5559BE48}"/>
              </a:ext>
            </a:extLst>
          </p:cNvPr>
          <p:cNvSpPr txBox="1"/>
          <p:nvPr/>
        </p:nvSpPr>
        <p:spPr>
          <a:xfrm>
            <a:off x="29016000" y="25677266"/>
            <a:ext cx="11553439" cy="2062103"/>
          </a:xfrm>
          <a:prstGeom prst="rect">
            <a:avLst/>
          </a:prstGeom>
          <a:noFill/>
        </p:spPr>
        <p:txBody>
          <a:bodyPr wrap="square" rtlCol="0">
            <a:spAutoFit/>
          </a:bodyPr>
          <a:lstStyle/>
          <a:p>
            <a:pPr algn="just"/>
            <a:r>
              <a:rPr lang="en-CA" sz="3200" dirty="0"/>
              <a:t>Solving the VSA problem is a critical step toward enabling scalable, autonomous space-based tracking networks, directly answering the need for cost-effective collision mitigation in an increasingly congested Low Earth Orbit.</a:t>
            </a:r>
          </a:p>
        </p:txBody>
      </p:sp>
      <p:sp>
        <p:nvSpPr>
          <p:cNvPr id="79" name="TextBox 78">
            <a:extLst>
              <a:ext uri="{FF2B5EF4-FFF2-40B4-BE49-F238E27FC236}">
                <a16:creationId xmlns:a16="http://schemas.microsoft.com/office/drawing/2014/main" id="{353C2E57-1E54-7DD5-8172-CCDED2A9D902}"/>
              </a:ext>
            </a:extLst>
          </p:cNvPr>
          <p:cNvSpPr txBox="1"/>
          <p:nvPr/>
        </p:nvSpPr>
        <p:spPr>
          <a:xfrm>
            <a:off x="252000" y="9644741"/>
            <a:ext cx="13488859" cy="3539430"/>
          </a:xfrm>
          <a:prstGeom prst="rect">
            <a:avLst/>
          </a:prstGeom>
          <a:noFill/>
        </p:spPr>
        <p:txBody>
          <a:bodyPr wrap="square" rtlCol="0">
            <a:spAutoFit/>
          </a:bodyPr>
          <a:lstStyle/>
          <a:p>
            <a:pPr algn="just"/>
            <a:r>
              <a:rPr lang="en-CA" sz="3200" b="1" dirty="0"/>
              <a:t>The Very Short Arc (VSA) Problem </a:t>
            </a:r>
            <a:r>
              <a:rPr lang="en-CA" sz="3200" dirty="0"/>
              <a:t>arises due to the high relative velocities of objects in LEO, the natural observation window for a star tracker is compressed into a very short arc, typically these are observations under 80 seconds, depending on geometry. During these extremely brief intervals, the orbital curvature of the RSO is practically unobservable and classical methods tend to fail, diverge or return realistic, but incorrect Ghost orbits. </a:t>
            </a:r>
          </a:p>
          <a:p>
            <a:endParaRPr lang="en-CA" sz="3200" dirty="0"/>
          </a:p>
        </p:txBody>
      </p:sp>
      <p:grpSp>
        <p:nvGrpSpPr>
          <p:cNvPr id="80" name="Group 79">
            <a:extLst>
              <a:ext uri="{FF2B5EF4-FFF2-40B4-BE49-F238E27FC236}">
                <a16:creationId xmlns:a16="http://schemas.microsoft.com/office/drawing/2014/main" id="{A0A1CD66-C2A3-8E8F-4A98-A4A83A328214}"/>
              </a:ext>
            </a:extLst>
          </p:cNvPr>
          <p:cNvGrpSpPr/>
          <p:nvPr/>
        </p:nvGrpSpPr>
        <p:grpSpPr>
          <a:xfrm>
            <a:off x="8061959" y="5628107"/>
            <a:ext cx="5400000" cy="4041115"/>
            <a:chOff x="36479269" y="4818310"/>
            <a:chExt cx="5400000" cy="4144828"/>
          </a:xfrm>
        </p:grpSpPr>
        <p:pic>
          <p:nvPicPr>
            <p:cNvPr id="81" name="Picture 80">
              <a:extLst>
                <a:ext uri="{FF2B5EF4-FFF2-40B4-BE49-F238E27FC236}">
                  <a16:creationId xmlns:a16="http://schemas.microsoft.com/office/drawing/2014/main" id="{175CCDC0-0A84-24DA-A4F0-3C5779C7A58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6479269" y="4818310"/>
              <a:ext cx="5400000" cy="4050000"/>
            </a:xfrm>
            <a:prstGeom prst="rect">
              <a:avLst/>
            </a:prstGeom>
          </p:spPr>
        </p:pic>
        <p:sp>
          <p:nvSpPr>
            <p:cNvPr id="82" name="TextBox 81">
              <a:extLst>
                <a:ext uri="{FF2B5EF4-FFF2-40B4-BE49-F238E27FC236}">
                  <a16:creationId xmlns:a16="http://schemas.microsoft.com/office/drawing/2014/main" id="{DB3203C7-1D9B-E75B-C3A9-EC791792509B}"/>
                </a:ext>
              </a:extLst>
            </p:cNvPr>
            <p:cNvSpPr txBox="1"/>
            <p:nvPr/>
          </p:nvSpPr>
          <p:spPr>
            <a:xfrm>
              <a:off x="36479269" y="8584327"/>
              <a:ext cx="5400000" cy="378811"/>
            </a:xfrm>
            <a:prstGeom prst="rect">
              <a:avLst/>
            </a:prstGeom>
            <a:noFill/>
          </p:spPr>
          <p:txBody>
            <a:bodyPr wrap="square" rtlCol="0">
              <a:spAutoFit/>
            </a:bodyPr>
            <a:lstStyle/>
            <a:p>
              <a:pPr algn="ctr"/>
              <a:r>
                <a:rPr lang="en-CA" dirty="0"/>
                <a:t>Figure 1: The Payload Flown on RSONAR 1,2 and 3</a:t>
              </a:r>
            </a:p>
          </p:txBody>
        </p:sp>
      </p:grpSp>
      <p:sp>
        <p:nvSpPr>
          <p:cNvPr id="83" name="TextBox 82">
            <a:extLst>
              <a:ext uri="{FF2B5EF4-FFF2-40B4-BE49-F238E27FC236}">
                <a16:creationId xmlns:a16="http://schemas.microsoft.com/office/drawing/2014/main" id="{D7ABCD26-6644-1DCF-2876-4973ECE01DFC}"/>
              </a:ext>
            </a:extLst>
          </p:cNvPr>
          <p:cNvSpPr txBox="1"/>
          <p:nvPr/>
        </p:nvSpPr>
        <p:spPr>
          <a:xfrm>
            <a:off x="252000" y="12625122"/>
            <a:ext cx="13500000" cy="3046988"/>
          </a:xfrm>
          <a:prstGeom prst="rect">
            <a:avLst/>
          </a:prstGeom>
          <a:noFill/>
        </p:spPr>
        <p:txBody>
          <a:bodyPr wrap="square" rtlCol="0">
            <a:spAutoFit/>
          </a:bodyPr>
          <a:lstStyle/>
          <a:p>
            <a:pPr algn="just"/>
            <a:r>
              <a:rPr lang="en-CA" sz="3200" b="1" dirty="0"/>
              <a:t>Physics-Informed Neural Networks (PINNs) </a:t>
            </a:r>
            <a:r>
              <a:rPr lang="en-US" sz="3200" dirty="0"/>
              <a:t>bypass both the steep computational costs and the brittle iterative instabilities characteristic of conventional numerical differential equation solvers. This makes them very well suited to IOD and the VSA Problem</a:t>
            </a:r>
          </a:p>
          <a:p>
            <a:pPr algn="just"/>
            <a:r>
              <a:rPr lang="en-CA" sz="3200" dirty="0"/>
              <a:t>This work presents a PINN approach evaluated on realistic hardware-in-the-loop simulated images to solve the VSA problem. </a:t>
            </a:r>
          </a:p>
        </p:txBody>
      </p:sp>
      <p:sp>
        <p:nvSpPr>
          <p:cNvPr id="84" name="TextBox 83">
            <a:extLst>
              <a:ext uri="{FF2B5EF4-FFF2-40B4-BE49-F238E27FC236}">
                <a16:creationId xmlns:a16="http://schemas.microsoft.com/office/drawing/2014/main" id="{51DA4347-45EE-EB4E-50BE-EE5707FD3823}"/>
              </a:ext>
            </a:extLst>
          </p:cNvPr>
          <p:cNvSpPr txBox="1"/>
          <p:nvPr/>
        </p:nvSpPr>
        <p:spPr>
          <a:xfrm>
            <a:off x="252000" y="6021157"/>
            <a:ext cx="7799642" cy="3539430"/>
          </a:xfrm>
          <a:prstGeom prst="rect">
            <a:avLst/>
          </a:prstGeom>
          <a:noFill/>
        </p:spPr>
        <p:txBody>
          <a:bodyPr wrap="square" rtlCol="0">
            <a:spAutoFit/>
          </a:bodyPr>
          <a:lstStyle/>
          <a:p>
            <a:pPr algn="just"/>
            <a:r>
              <a:rPr lang="en-CA" sz="3200" b="1" dirty="0"/>
              <a:t>The Payload</a:t>
            </a:r>
            <a:r>
              <a:rPr lang="en-CA" sz="3200" dirty="0"/>
              <a:t> (shown in figure 1) under test is an Excelitas PCO Panda 4.2, which has been used as a dual-use star tracker in three stratospheric balloon flights. The payload will fly onboard Universidad Polit</a:t>
            </a:r>
            <a:r>
              <a:rPr lang="en-US" sz="3200" dirty="0"/>
              <a:t>é</a:t>
            </a:r>
            <a:r>
              <a:rPr lang="en-CA" sz="3200" dirty="0" err="1"/>
              <a:t>cnica</a:t>
            </a:r>
            <a:r>
              <a:rPr lang="en-CA" sz="3200" dirty="0"/>
              <a:t> de Madrid’s UPMSat-4. It will capture images for ten minutes per orbit.</a:t>
            </a:r>
          </a:p>
        </p:txBody>
      </p:sp>
      <mc:AlternateContent xmlns:mc="http://schemas.openxmlformats.org/markup-compatibility/2006">
        <mc:Choice xmlns:a14="http://schemas.microsoft.com/office/drawing/2010/main" Requires="a14">
          <p:sp>
            <p:nvSpPr>
              <p:cNvPr id="92" name="TextBox 91">
                <a:extLst>
                  <a:ext uri="{FF2B5EF4-FFF2-40B4-BE49-F238E27FC236}">
                    <a16:creationId xmlns:a16="http://schemas.microsoft.com/office/drawing/2014/main" id="{7F331CCD-7BA1-2354-5D0A-4653A3CBEA90}"/>
                  </a:ext>
                </a:extLst>
              </p:cNvPr>
              <p:cNvSpPr txBox="1"/>
              <p:nvPr/>
            </p:nvSpPr>
            <p:spPr>
              <a:xfrm>
                <a:off x="14112000" y="19881180"/>
                <a:ext cx="14580000" cy="8559138"/>
              </a:xfrm>
              <a:prstGeom prst="rect">
                <a:avLst/>
              </a:prstGeom>
              <a:noFill/>
            </p:spPr>
            <p:txBody>
              <a:bodyPr wrap="square" rtlCol="0">
                <a:spAutoFit/>
              </a:bodyPr>
              <a:lstStyle/>
              <a:p>
                <a:pPr algn="just"/>
                <a:r>
                  <a:rPr lang="en-US" sz="3200" b="1" dirty="0"/>
                  <a:t>The Physics-Informed Extreme Learning Machine (PEILM)</a:t>
                </a:r>
                <a:r>
                  <a:rPr lang="en-US" sz="3200" dirty="0"/>
                  <a:t> The Physics-Informed Extreme Learning Machine (PIELM) takes the ABC’s coarse estimate as a warm-start to refine the state vector, operating in five phases: 1) Canonical Scaling, where inputs are non-</a:t>
                </a:r>
                <a:r>
                  <a:rPr lang="en-US" sz="3200" dirty="0" err="1"/>
                  <a:t>dimensionalized</a:t>
                </a:r>
                <a:r>
                  <a:rPr lang="en-US" sz="3200" dirty="0"/>
                  <a:t> to eliminate numerical stiffness caused by the vast magnitude differences between position and velocity; 2) </a:t>
                </a:r>
                <a:r>
                  <a:rPr lang="en-CA" sz="3200" dirty="0"/>
                  <a:t>Analytical Derivatives, which bypasses slow automatic differentiation by calculating velocity and acceleration directly through analytical activation derivative mapping, where</a:t>
                </a:r>
                <a:r>
                  <a:rPr lang="en-CA" sz="3200" b="1" i="1" dirty="0"/>
                  <a:t> </a:t>
                </a:r>
                <a14:m>
                  <m:oMath xmlns:m="http://schemas.openxmlformats.org/officeDocument/2006/math">
                    <m:r>
                      <a:rPr lang="en-US" sz="3200" b="1" i="1">
                        <a:latin typeface="Cambria Math" panose="02040503050406030204" pitchFamily="18" charset="0"/>
                      </a:rPr>
                      <m:t>𝑯</m:t>
                    </m:r>
                  </m:oMath>
                </a14:m>
                <a:r>
                  <a:rPr lang="en-CA" sz="3200" b="1" i="1" dirty="0"/>
                  <a:t> </a:t>
                </a:r>
                <a:r>
                  <a:rPr lang="en-CA" sz="3200" dirty="0"/>
                  <a:t>represents the hidden layer activation matrix of the hyperbolic tangent (</a:t>
                </a:r>
                <a14:m>
                  <m:oMath xmlns:m="http://schemas.openxmlformats.org/officeDocument/2006/math">
                    <m:r>
                      <m:rPr>
                        <m:sty m:val="p"/>
                      </m:rPr>
                      <a:rPr lang="en-US" sz="3200" i="1">
                        <a:latin typeface="Cambria Math" panose="02040503050406030204" pitchFamily="18" charset="0"/>
                      </a:rPr>
                      <m:t>tanh</m:t>
                    </m:r>
                  </m:oMath>
                </a14:m>
                <a:r>
                  <a:rPr lang="en-CA" sz="3200" dirty="0"/>
                  <a:t>) function:</a:t>
                </a:r>
              </a:p>
              <a:p>
                <a:pPr algn="just"/>
                <a14:m>
                  <m:oMathPara xmlns:m="http://schemas.openxmlformats.org/officeDocument/2006/math">
                    <m:oMathParaPr>
                      <m:jc m:val="centerGroup"/>
                    </m:oMathParaPr>
                    <m:oMath xmlns:m="http://schemas.openxmlformats.org/officeDocument/2006/math">
                      <m:sSup>
                        <m:sSupPr>
                          <m:ctrlPr>
                            <a:rPr lang="en-CA" sz="3200" b="1" i="1">
                              <a:latin typeface="Cambria Math" panose="02040503050406030204" pitchFamily="18" charset="0"/>
                            </a:rPr>
                          </m:ctrlPr>
                        </m:sSupPr>
                        <m:e>
                          <m:r>
                            <a:rPr lang="en-CA" sz="3200" b="1" i="1">
                              <a:latin typeface="Cambria Math" panose="02040503050406030204" pitchFamily="18" charset="0"/>
                            </a:rPr>
                            <m:t>𝑯</m:t>
                          </m:r>
                        </m:e>
                        <m:sup>
                          <m:r>
                            <a:rPr lang="en-CA" sz="3200" b="1" i="1">
                              <a:latin typeface="Cambria Math" panose="02040503050406030204" pitchFamily="18" charset="0"/>
                            </a:rPr>
                            <m:t>′</m:t>
                          </m:r>
                        </m:sup>
                      </m:sSup>
                      <m:r>
                        <a:rPr lang="en-CA" sz="3200" b="1" i="1">
                          <a:latin typeface="Cambria Math" panose="02040503050406030204" pitchFamily="18" charset="0"/>
                        </a:rPr>
                        <m:t>=</m:t>
                      </m:r>
                      <m:r>
                        <a:rPr lang="en-CA" sz="3200" b="1" i="1">
                          <a:latin typeface="Cambria Math" panose="02040503050406030204" pitchFamily="18" charset="0"/>
                        </a:rPr>
                        <m:t>𝟏</m:t>
                      </m:r>
                      <m:r>
                        <a:rPr lang="en-CA" sz="3200" b="1" i="1">
                          <a:latin typeface="Cambria Math" panose="02040503050406030204" pitchFamily="18" charset="0"/>
                        </a:rPr>
                        <m:t>.</m:t>
                      </m:r>
                      <m:r>
                        <a:rPr lang="en-CA" sz="3200" b="1" i="1">
                          <a:latin typeface="Cambria Math" panose="02040503050406030204" pitchFamily="18" charset="0"/>
                        </a:rPr>
                        <m:t>𝟎</m:t>
                      </m:r>
                      <m:r>
                        <a:rPr lang="en-CA" sz="3200" b="1" i="1">
                          <a:latin typeface="Cambria Math" panose="02040503050406030204" pitchFamily="18" charset="0"/>
                        </a:rPr>
                        <m:t>−</m:t>
                      </m:r>
                      <m:sSup>
                        <m:sSupPr>
                          <m:ctrlPr>
                            <a:rPr lang="en-CA" sz="3200" b="1" i="1">
                              <a:latin typeface="Cambria Math" panose="02040503050406030204" pitchFamily="18" charset="0"/>
                            </a:rPr>
                          </m:ctrlPr>
                        </m:sSupPr>
                        <m:e>
                          <m:r>
                            <a:rPr lang="en-CA" sz="3200" b="1" i="1">
                              <a:latin typeface="Cambria Math" panose="02040503050406030204" pitchFamily="18" charset="0"/>
                            </a:rPr>
                            <m:t>𝑯</m:t>
                          </m:r>
                        </m:e>
                        <m:sup>
                          <m:r>
                            <a:rPr lang="en-CA" sz="3200" b="1" i="1">
                              <a:latin typeface="Cambria Math" panose="02040503050406030204" pitchFamily="18" charset="0"/>
                            </a:rPr>
                            <m:t>𝟐</m:t>
                          </m:r>
                        </m:sup>
                      </m:sSup>
                      <m:r>
                        <a:rPr lang="en-CA" sz="3200" b="1" i="1">
                          <a:latin typeface="Cambria Math" panose="02040503050406030204" pitchFamily="18" charset="0"/>
                        </a:rPr>
                        <m:t>, </m:t>
                      </m:r>
                      <m:sSup>
                        <m:sSupPr>
                          <m:ctrlPr>
                            <a:rPr lang="en-CA" sz="3200" b="1" i="1">
                              <a:latin typeface="Cambria Math" panose="02040503050406030204" pitchFamily="18" charset="0"/>
                            </a:rPr>
                          </m:ctrlPr>
                        </m:sSupPr>
                        <m:e>
                          <m:r>
                            <a:rPr lang="en-CA" sz="3200" b="1" i="1">
                              <a:latin typeface="Cambria Math" panose="02040503050406030204" pitchFamily="18" charset="0"/>
                            </a:rPr>
                            <m:t>𝑯</m:t>
                          </m:r>
                        </m:e>
                        <m:sup>
                          <m:r>
                            <a:rPr lang="en-CA" sz="3200" b="1" i="1">
                              <a:latin typeface="Cambria Math" panose="02040503050406030204" pitchFamily="18" charset="0"/>
                            </a:rPr>
                            <m:t>′′</m:t>
                          </m:r>
                        </m:sup>
                      </m:sSup>
                      <m:r>
                        <a:rPr lang="en-CA" sz="3200" b="1" i="1">
                          <a:latin typeface="Cambria Math" panose="02040503050406030204" pitchFamily="18" charset="0"/>
                        </a:rPr>
                        <m:t>=−</m:t>
                      </m:r>
                      <m:r>
                        <a:rPr lang="en-CA" sz="3200" b="1" i="1">
                          <a:latin typeface="Cambria Math" panose="02040503050406030204" pitchFamily="18" charset="0"/>
                        </a:rPr>
                        <m:t>𝟐</m:t>
                      </m:r>
                      <m:r>
                        <a:rPr lang="en-CA" sz="3200" b="1" i="1">
                          <a:latin typeface="Cambria Math" panose="02040503050406030204" pitchFamily="18" charset="0"/>
                        </a:rPr>
                        <m:t>.</m:t>
                      </m:r>
                      <m:r>
                        <a:rPr lang="en-CA" sz="3200" b="1" i="1">
                          <a:latin typeface="Cambria Math" panose="02040503050406030204" pitchFamily="18" charset="0"/>
                        </a:rPr>
                        <m:t>𝟎</m:t>
                      </m:r>
                      <m:r>
                        <a:rPr lang="en-CA" sz="3200" b="1" i="1">
                          <a:latin typeface="Cambria Math" panose="02040503050406030204" pitchFamily="18" charset="0"/>
                        </a:rPr>
                        <m:t>𝑯</m:t>
                      </m:r>
                      <m:sSup>
                        <m:sSupPr>
                          <m:ctrlPr>
                            <a:rPr lang="en-CA" sz="3200" b="1" i="1">
                              <a:latin typeface="Cambria Math" panose="02040503050406030204" pitchFamily="18" charset="0"/>
                            </a:rPr>
                          </m:ctrlPr>
                        </m:sSupPr>
                        <m:e>
                          <m:r>
                            <a:rPr lang="en-CA" sz="3200" b="1" i="1">
                              <a:latin typeface="Cambria Math" panose="02040503050406030204" pitchFamily="18" charset="0"/>
                            </a:rPr>
                            <m:t>𝑯</m:t>
                          </m:r>
                        </m:e>
                        <m:sup>
                          <m:r>
                            <a:rPr lang="en-CA" sz="3200" b="1" i="1">
                              <a:latin typeface="Cambria Math" panose="02040503050406030204" pitchFamily="18" charset="0"/>
                            </a:rPr>
                            <m:t>′</m:t>
                          </m:r>
                        </m:sup>
                      </m:sSup>
                      <m:sSup>
                        <m:sSupPr>
                          <m:ctrlPr>
                            <a:rPr lang="en-CA" sz="3200" b="1" i="1">
                              <a:latin typeface="Cambria Math" panose="02040503050406030204" pitchFamily="18" charset="0"/>
                            </a:rPr>
                          </m:ctrlPr>
                        </m:sSupPr>
                        <m:e>
                          <m:r>
                            <a:rPr lang="en-CA" sz="3200" b="1" i="1">
                              <a:latin typeface="Cambria Math" panose="02040503050406030204" pitchFamily="18" charset="0"/>
                            </a:rPr>
                            <m:t>𝒘</m:t>
                          </m:r>
                        </m:e>
                        <m:sup>
                          <m:r>
                            <a:rPr lang="en-CA" sz="3200" b="1" i="1">
                              <a:latin typeface="Cambria Math" panose="02040503050406030204" pitchFamily="18" charset="0"/>
                            </a:rPr>
                            <m:t>𝟐</m:t>
                          </m:r>
                        </m:sup>
                      </m:sSup>
                    </m:oMath>
                  </m:oMathPara>
                </a14:m>
                <a:endParaRPr lang="en-US" sz="3200" b="1" i="1" dirty="0"/>
              </a:p>
              <a:p>
                <a:pPr algn="just"/>
                <a:r>
                  <a:rPr lang="en-US" sz="3200" dirty="0"/>
                  <a:t>3) Weight Initialization, where input weights (w) and biases (b) are randomly fixed </a:t>
                </a:r>
                <a14:m>
                  <m:oMath xmlns:m="http://schemas.openxmlformats.org/officeDocument/2006/math">
                    <m:sSub>
                      <m:sSubPr>
                        <m:ctrlPr>
                          <a:rPr lang="en-US" sz="3200" i="1" dirty="0">
                            <a:latin typeface="Cambria Math" panose="02040503050406030204" pitchFamily="18" charset="0"/>
                          </a:rPr>
                        </m:ctrlPr>
                      </m:sSubPr>
                      <m:e>
                        <m:r>
                          <m:rPr>
                            <m:nor/>
                          </m:rPr>
                          <a:rPr lang="en-US" sz="3200" dirty="0">
                            <a:latin typeface="Cambria Math" panose="02040503050406030204" pitchFamily="18" charset="0"/>
                          </a:rPr>
                          <m:t>W</m:t>
                        </m:r>
                      </m:e>
                      <m:sub>
                        <m:r>
                          <m:rPr>
                            <m:nor/>
                          </m:rPr>
                          <a:rPr lang="en-US" sz="3200" dirty="0">
                            <a:latin typeface="Cambria Math" panose="02040503050406030204" pitchFamily="18" charset="0"/>
                          </a:rPr>
                          <m:t>scale</m:t>
                        </m:r>
                      </m:sub>
                    </m:sSub>
                    <m:r>
                      <m:rPr>
                        <m:nor/>
                      </m:rPr>
                      <a:rPr lang="en-US" sz="3200" dirty="0">
                        <a:latin typeface="Cambria Math" panose="02040503050406030204" pitchFamily="18" charset="0"/>
                      </a:rPr>
                      <m:t> = 0.01</m:t>
                    </m:r>
                  </m:oMath>
                </a14:m>
                <a:r>
                  <a:rPr lang="en-US" sz="3200" dirty="0"/>
                  <a:t> for </a:t>
                </a:r>
                <a14:m>
                  <m:oMath xmlns:m="http://schemas.openxmlformats.org/officeDocument/2006/math">
                    <m:sSub>
                      <m:sSubPr>
                        <m:ctrlPr>
                          <a:rPr lang="en-CA" sz="3200" i="1">
                            <a:latin typeface="Cambria Math" panose="02040503050406030204" pitchFamily="18" charset="0"/>
                          </a:rPr>
                        </m:ctrlPr>
                      </m:sSubPr>
                      <m:e>
                        <m:r>
                          <a:rPr lang="en-CA" sz="3200" i="1">
                            <a:latin typeface="Cambria Math" panose="02040503050406030204" pitchFamily="18" charset="0"/>
                          </a:rPr>
                          <m:t>𝑁</m:t>
                        </m:r>
                      </m:e>
                      <m:sub>
                        <m:r>
                          <m:rPr>
                            <m:nor/>
                          </m:rPr>
                          <a:rPr lang="en-CA" sz="3200">
                            <a:latin typeface="Cambria Math" panose="02040503050406030204" pitchFamily="18" charset="0"/>
                          </a:rPr>
                          <m:t>hidden</m:t>
                        </m:r>
                      </m:sub>
                    </m:sSub>
                    <m:r>
                      <a:rPr lang="en-CA" sz="3200" i="1">
                        <a:latin typeface="Cambria Math" panose="02040503050406030204" pitchFamily="18" charset="0"/>
                      </a:rPr>
                      <m:t>=21</m:t>
                    </m:r>
                    <m:r>
                      <a:rPr lang="en-US" sz="3200" i="1">
                        <a:latin typeface="Cambria Math" panose="02040503050406030204" pitchFamily="18" charset="0"/>
                      </a:rPr>
                      <m:t> </m:t>
                    </m:r>
                  </m:oMath>
                </a14:m>
                <a:r>
                  <a:rPr lang="en-US" sz="3200" dirty="0"/>
                  <a:t>neurons. Output weights (β) are resolved in a single step using linear least-squares to fit the ABC path. </a:t>
                </a:r>
                <a:r>
                  <a:rPr lang="en-CA" sz="3200" b="1" dirty="0"/>
                  <a:t>4 &amp; 5) Ensemble Optimization &amp; Filtering:</a:t>
                </a:r>
                <a:r>
                  <a:rPr lang="en-CA" sz="3200" dirty="0"/>
                  <a:t> A Levenberg-Marquardt solver minimizes physical and observational residuals across adaptive-threshold ensembles (ALFA). Anomalous trajectories falling outside </a:t>
                </a:r>
                <a:r>
                  <a:rPr lang="en-US" dirty="0"/>
                  <a:t>1σ </a:t>
                </a:r>
                <a:r>
                  <a:rPr lang="en-CA" sz="3200" dirty="0"/>
                  <a:t>of the mean are discarded, and the remaining sane states are averaged.</a:t>
                </a:r>
              </a:p>
            </p:txBody>
          </p:sp>
        </mc:Choice>
        <mc:Fallback>
          <p:sp>
            <p:nvSpPr>
              <p:cNvPr id="92" name="TextBox 91">
                <a:extLst>
                  <a:ext uri="{FF2B5EF4-FFF2-40B4-BE49-F238E27FC236}">
                    <a16:creationId xmlns:a16="http://schemas.microsoft.com/office/drawing/2014/main" id="{7F331CCD-7BA1-2354-5D0A-4653A3CBEA90}"/>
                  </a:ext>
                </a:extLst>
              </p:cNvPr>
              <p:cNvSpPr txBox="1">
                <a:spLocks noRot="1" noChangeAspect="1" noMove="1" noResize="1" noEditPoints="1" noAdjustHandles="1" noChangeArrowheads="1" noChangeShapeType="1" noTextEdit="1"/>
              </p:cNvSpPr>
              <p:nvPr/>
            </p:nvSpPr>
            <p:spPr>
              <a:xfrm>
                <a:off x="14112000" y="19881180"/>
                <a:ext cx="14580000" cy="8559138"/>
              </a:xfrm>
              <a:prstGeom prst="rect">
                <a:avLst/>
              </a:prstGeom>
              <a:blipFill>
                <a:blip r:embed="rId16"/>
                <a:stretch>
                  <a:fillRect l="-1087" t="-855" r="-1045" b="-1425"/>
                </a:stretch>
              </a:blipFill>
            </p:spPr>
            <p:txBody>
              <a:bodyPr/>
              <a:lstStyle/>
              <a:p>
                <a:r>
                  <a:rPr lang="en-CA">
                    <a:noFill/>
                  </a:rPr>
                  <a:t> </a:t>
                </a:r>
              </a:p>
            </p:txBody>
          </p:sp>
        </mc:Fallback>
      </mc:AlternateContent>
      <p:grpSp>
        <p:nvGrpSpPr>
          <p:cNvPr id="94" name="Group 93">
            <a:extLst>
              <a:ext uri="{FF2B5EF4-FFF2-40B4-BE49-F238E27FC236}">
                <a16:creationId xmlns:a16="http://schemas.microsoft.com/office/drawing/2014/main" id="{4D385394-67B3-281C-AF3A-DA9397136CBC}"/>
              </a:ext>
            </a:extLst>
          </p:cNvPr>
          <p:cNvGrpSpPr/>
          <p:nvPr/>
        </p:nvGrpSpPr>
        <p:grpSpPr>
          <a:xfrm>
            <a:off x="14220000" y="17092177"/>
            <a:ext cx="14400000" cy="2575109"/>
            <a:chOff x="13986118" y="16750568"/>
            <a:chExt cx="14511581" cy="2574821"/>
          </a:xfrm>
        </p:grpSpPr>
        <p:pic>
          <p:nvPicPr>
            <p:cNvPr id="88" name="Picture 87">
              <a:extLst>
                <a:ext uri="{FF2B5EF4-FFF2-40B4-BE49-F238E27FC236}">
                  <a16:creationId xmlns:a16="http://schemas.microsoft.com/office/drawing/2014/main" id="{AFD43E9C-3F26-23D0-EF6E-70370A43948A}"/>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13986118" y="16750568"/>
              <a:ext cx="14511581" cy="2183602"/>
            </a:xfrm>
            <a:prstGeom prst="rect">
              <a:avLst/>
            </a:prstGeom>
          </p:spPr>
        </p:pic>
        <p:sp>
          <p:nvSpPr>
            <p:cNvPr id="93" name="TextBox 92">
              <a:extLst>
                <a:ext uri="{FF2B5EF4-FFF2-40B4-BE49-F238E27FC236}">
                  <a16:creationId xmlns:a16="http://schemas.microsoft.com/office/drawing/2014/main" id="{2A872BB5-327D-42EF-DB8D-A954844BD1F4}"/>
                </a:ext>
              </a:extLst>
            </p:cNvPr>
            <p:cNvSpPr txBox="1"/>
            <p:nvPr/>
          </p:nvSpPr>
          <p:spPr>
            <a:xfrm>
              <a:off x="13986118" y="18956098"/>
              <a:ext cx="14511581" cy="369291"/>
            </a:xfrm>
            <a:prstGeom prst="rect">
              <a:avLst/>
            </a:prstGeom>
            <a:noFill/>
          </p:spPr>
          <p:txBody>
            <a:bodyPr wrap="square" rtlCol="0">
              <a:spAutoFit/>
            </a:bodyPr>
            <a:lstStyle/>
            <a:p>
              <a:pPr algn="ctr"/>
              <a:r>
                <a:rPr lang="en-US" dirty="0"/>
                <a:t>Figure 5: Algorithm Architecture flowchart</a:t>
              </a:r>
              <a:endParaRPr lang="en-CA" dirty="0"/>
            </a:p>
          </p:txBody>
        </p:sp>
      </p:grpSp>
    </p:spTree>
    <p:extLst>
      <p:ext uri="{BB962C8B-B14F-4D97-AF65-F5344CB8AC3E}">
        <p14:creationId xmlns:p14="http://schemas.microsoft.com/office/powerpoint/2010/main" val="24617122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38797</TotalTime>
  <Words>1335</Words>
  <Application>Microsoft Office PowerPoint</Application>
  <PresentationFormat>Custom</PresentationFormat>
  <Paragraphs>56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 Porto</dc:creator>
  <cp:lastModifiedBy>Ian Porto</cp:lastModifiedBy>
  <cp:revision>27</cp:revision>
  <cp:lastPrinted>2026-07-17T12:20:00Z</cp:lastPrinted>
  <dcterms:created xsi:type="dcterms:W3CDTF">2026-02-11T12:36:29Z</dcterms:created>
  <dcterms:modified xsi:type="dcterms:W3CDTF">2026-07-17T14:01:54Z</dcterms:modified>
</cp:coreProperties>
</file>